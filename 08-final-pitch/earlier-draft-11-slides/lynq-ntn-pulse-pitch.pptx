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7aa2bb-e5cf-2ffc-7712-d040f2b27b0d}">
          <p14:sldIdLst>
            <p14:sldId id="256"/>
          </p14:sldIdLst>
        </p14:section>
        <p14:section name="Problem" id="{10e23550-928d-2973-3059-be7e94172759}">
          <p14:sldIdLst>
            <p14:sldId id="257"/>
            <p14:sldId id="258"/>
          </p14:sldIdLst>
        </p14:section>
        <p14:section name="Technical" id="{0683fdc7-03a7-76bf-ca93-728b65694c6e}">
          <p14:sldIdLst>
            <p14:sldId id="259"/>
            <p14:sldId id="260"/>
            <p14:sldId id="261"/>
          </p14:sldIdLst>
        </p14:section>
        <p14:section name="Regulatory" id="{1f6412d0-2957-ae6a-dae4-6db05674ac38}">
          <p14:sldIdLst>
            <p14:sldId id="262"/>
          </p14:sldIdLst>
        </p14:section>
        <p14:section name="Economics" id="{e615949a-2e57-b205-b06f-f87f102af653}">
          <p14:sldIdLst>
            <p14:sldId id="263"/>
            <p14:sldId id="264"/>
          </p14:sldIdLst>
        </p14:section>
        <p14:section name="Close" id="{19f1d7ba-0d17-d464-e047-713c7d6bd3c9}">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Median alarm latency to Frankfurt, seconds (30 satellites, Stavanger gateway offline)</a:t>
            </a:r>
          </a:p>
        </c:rich>
      </c:tx>
      <c:layout/>
      <c:overlay val="0"/>
    </c:title>
    <c:autoTitleDeleted val="0"/>
    <c:plotArea>
      <c:layout/>
      <c:barChart>
        <c:barDir val="bar"/>
        <c:grouping val="clustered"/>
        <c:varyColors val="0"/>
        <c:ser>
          <c:idx val="0"/>
          <c:order val="0"/>
          <c:tx>
            <c:strRef>
              <c:f>Sheet1!$B$1</c:f>
              <c:strCache>
                <c:ptCount val="1"/>
                <c:pt idx="0">
                  <c:v>Critical alarm median latency (s)</c:v>
                </c:pt>
              </c:strCache>
            </c:strRef>
          </c:tx>
          <c:spPr>
            <a:solidFill>
              <a:srgbClr val="6B6B73"/>
            </a:solidFill>
            <a:effectLst/>
          </c:spPr>
          <c:invertIfNegative val="0"/>
          <c:dLbls>
            <c:numFmt formatCode="0.0&quot; s&quot;"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6B6B73"/>
              </a:solidFill>
              <a:effectLst/>
            </c:spPr>
          </c:dPt>
          <c:dPt>
            <c:idx val="1"/>
            <c:invertIfNegative val="0"/>
            <c:bubble3D val="0"/>
            <c:spPr>
              <a:solidFill>
                <a:srgbClr val="6B6B73"/>
              </a:solidFill>
              <a:effectLst/>
            </c:spPr>
          </c:dPt>
          <c:dPt>
            <c:idx val="2"/>
            <c:invertIfNegative val="0"/>
            <c:bubble3D val="0"/>
            <c:spPr>
              <a:solidFill>
                <a:srgbClr val="3FD0E0"/>
              </a:solidFill>
              <a:effectLst/>
            </c:spPr>
          </c:dPt>
          <c:cat>
            <c:multiLvlStrRef>
              <c:f>Sheet1!$A$2:$A$4</c:f>
              <c:multiLvlStrCache>
                <c:ptCount val="3"/>
                <c:lvl>
                  <c:pt idx="0">
                    <c:v>Bent-pipe</c:v>
                  </c:pt>
                  <c:pt idx="1">
                    <c:v>Regenerative, no ISL</c:v>
                  </c:pt>
                  <c:pt idx="2">
                    <c:v>Regenerative + ISL</c:v>
                  </c:pt>
                </c:lvl>
              </c:multiLvlStrCache>
            </c:multiLvlStrRef>
          </c:cat>
          <c:val>
            <c:numRef>
              <c:f>Sheet1!$B$2:$B$4</c:f>
              <c:numCache>
                <c:formatCode>General</c:formatCode>
                <c:ptCount val="3"/>
                <c:pt idx="0">
                  <c:v>30.1</c:v>
                </c:pt>
                <c:pt idx="1">
                  <c:v>35.1</c:v>
                </c:pt>
                <c:pt idx="2">
                  <c:v>0.1</c:v>
                </c:pt>
              </c:numCache>
            </c:numRef>
          </c:val>
        </c:ser>
        <c:dLbls>
          <c:numFmt formatCode="0.0&quot; s&quot;"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0A0A8"/>
                </a:solidFill>
                <a:latin typeface="+mn-lt"/>
              </a:defRPr>
            </a:pPr>
            <a:endParaRPr lang="en-US"/>
          </a:p>
        </c:txPr>
        <c:crossAx val="2094734552"/>
        <c:crosses val="autoZero"/>
        <c:auto val="1"/>
        <c:lblAlgn val="ctr"/>
        <c:noMultiLvlLbl val="1"/>
      </c:catAx>
      <c:valAx>
        <c:axId val="2094734552"/>
        <c:scaling>
          <c:orientation val="minMax"/>
          <c:max val="40"/>
        </c:scaling>
        <c:delete val="0"/>
        <c:axPos val="b"/>
        <c:majorGridlines>
          <c:spPr>
            <a:ln w="6350" cap="flat">
              <a:solidFill>
                <a:srgbClr val="3A3A42"/>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A0A0A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Share of the day a satellite covers the North Sea basin (%)</a:t>
            </a:r>
          </a:p>
        </c:rich>
      </c:tx>
      <c:layout/>
      <c:overlay val="0"/>
    </c:title>
    <c:autoTitleDeleted val="0"/>
    <c:plotArea>
      <c:layout/>
      <c:barChart>
        <c:barDir val="col"/>
        <c:grouping val="clustered"/>
        <c:varyColors val="0"/>
        <c:ser>
          <c:idx val="0"/>
          <c:order val="0"/>
          <c:tx>
            <c:strRef>
              <c:f>Sheet1!$B$1</c:f>
              <c:strCache>
                <c:ptCount val="1"/>
                <c:pt idx="0">
                  <c:v>Basin coverage</c:v>
                </c:pt>
              </c:strCache>
            </c:strRef>
          </c:tx>
          <c:spPr>
            <a:solidFill>
              <a:srgbClr val="6B6B73"/>
            </a:solidFill>
            <a:effectLst/>
          </c:spPr>
          <c:invertIfNegative val="0"/>
          <c:dLbls>
            <c:numFmt formatCode="0&quot;%&quot;"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6B6B73"/>
              </a:solidFill>
              <a:effectLst/>
            </c:spPr>
          </c:dPt>
          <c:dPt>
            <c:idx val="1"/>
            <c:invertIfNegative val="0"/>
            <c:bubble3D val="0"/>
            <c:spPr>
              <a:solidFill>
                <a:srgbClr val="A0A0A8"/>
              </a:solidFill>
              <a:effectLst/>
            </c:spPr>
          </c:dPt>
          <c:dPt>
            <c:idx val="2"/>
            <c:invertIfNegative val="0"/>
            <c:bubble3D val="0"/>
            <c:spPr>
              <a:solidFill>
                <a:srgbClr val="3FD0E0"/>
              </a:solidFill>
              <a:effectLst/>
            </c:spPr>
          </c:dPt>
          <c:cat>
            <c:multiLvlStrRef>
              <c:f>Sheet1!$A$2:$A$4</c:f>
              <c:multiLvlStrCache>
                <c:ptCount val="3"/>
                <c:lvl>
                  <c:pt idx="0">
                    <c:v>12 sats, SSO (today)</c:v>
                  </c:pt>
                  <c:pt idx="1">
                    <c:v>30 sats, SSO</c:v>
                  </c:pt>
                  <c:pt idx="2">
                    <c:v>30 sats, 65° Walker</c:v>
                  </c:pt>
                </c:lvl>
              </c:multiLvlStrCache>
            </c:multiLvlStrRef>
          </c:cat>
          <c:val>
            <c:numRef>
              <c:f>Sheet1!$B$2:$B$4</c:f>
              <c:numCache>
                <c:formatCode>General</c:formatCode>
                <c:ptCount val="3"/>
                <c:pt idx="0">
                  <c:v>26</c:v>
                </c:pt>
                <c:pt idx="1">
                  <c:v>61</c:v>
                </c:pt>
                <c:pt idx="2">
                  <c:v>79</c:v>
                </c:pt>
              </c:numCache>
            </c:numRef>
          </c:val>
        </c:ser>
        <c:dLbls>
          <c:numFmt formatCode="0&quot;%&quot;"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0A0A8"/>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3A3A42"/>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A0A0A8"/>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Good morning. We are Team Lynq, pronounced "link". OQ asked for a gNB-onboard LEO constellation that can serve any point on Earth, and for three things: an architecture sized to a coverage and latency target, a regulatory pathway, and a first business case.
Our answer is Lynq NTN-Pulse: a digital twin and policy engine that sits on top of OQ's regenerative satellites and decides, for every single message, which path it should take. Our tagline says it: every signal, the right path.
In the next ten minutes: the problem, our architecture, latency and coverage numbers from our simulation, the regulatory pathway, the business case, and what we want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Today most satellite IoT is bent-pipe. The satellite is a mirror: it only relays the signal down to a ground gateway. That creates three problems.
First, no gateway in view means no service. The terminal and a gateway must both see the same satellite at the same moment.
Second, a gateway can be in view but not allowed. National rules, data residency or licensing can forbid landing a given country's traffic there.
Third, all traffic is treated the same. A shutdown alarm queues behind a log file.
The people hit hardest are offshore operators: wind farms, platforms, vessels and pipelines in the North Sea, spread over five national sectors. That is our beachhead.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[1:30–2:40]
Our answer is a software layer, NTN-Pulse. A digital twin models every satellite, gateway, link and queue; a policy engine assigns each message to a path.
Follow the cyan line. A platform sends a message to the gNB onboard the satellite overhead. The closest gateway is in view but blocked, for example a sector whose data may not land there. So instead of waiting, the satellite relays it over an RF link inside its plane, then an optical link across planes, down to an authorised gateway, and into the 5G core and cloud.
And because the gNB is onboard, the scheduler is in orbit too. Every message is sorted into three classes. Critical alarms go first, on the first authorised path, on this pass. Regular data like telemetry is stored onboard and forwarded within 90 minutes. Metadata tells the twin which gateway each asset may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[2:40–3:50]
The architecture. We start from OQ's real fleet, about 12 satellites today, ten OQ plus two ERMIS, and we size for the planned 30: three planes of ten at roughly 500 to 550 kilometres. At a 10-degree minimum elevation one footprint is about 3,000 kilometres wide, so one satellite in view covers the whole North Sea basin and every gateway around it.
The brief asked for two trade-offs.
Payload: we choose a full regenerative gNB. Bent-pipe cannot serve a user with no gateway in view, and a split gNB still keeps most of the RF power onboard while the RRC signalling round-trips to the ground. We keep power in check with a narrowband gNB and duty-cycling.
ISL: RF inside each plane, on every satellite, proven by Iridium for 25 years. Optical only across planes, on a subset of relay satellites: no spectrum licence, and European suppliers avoid ITAR. IoT needs only a few megabits, so all-optical isn't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[3:50–5:00]
Now the numbers. From our twin: 24 hours, 300 North Sea terminals, real orbits, link budgets and gateway rules.
With 30 satellites and all gateways up, a live alarm lands in the Frankfurt cloud in about 85 milliseconds, inside the continuous tier.
The chart is the interesting case. We take the Stavanger gateway offline. Norwegian-sector data is now only allowed to land at Svalbard. Bent-pipe and regenerative-without-ISL have to wait for a satellite that sees both the platform and Svalbard: the median alarm jumps to 30 to 35 seconds. With the ISL, the alarm simply relays north over the mesh and stays at about 100 milliseconds. Routing compliance was 100 percent in every scenario.
So the ISL is not just a speed feature. It is what makes sovereignty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[5:00–6:00]
Coverage. With today's 12 satellites the basin is in view only about a quarter of the day, with gaps up to four hours. That is passes, not coverage. Alarms wait for the next pass, about seven minutes.
At 30, the in-plane RF ring closes and coverage rises to 61 percent. But the worst gap is still almost two hours.
Our most useful finding: keep the same 30 satellites, but fly them in a 65-degree Walker delta instead of sun-synchronous planes. Sun-synchronous orbits spread passes over the poles; 65 degrees concentrates them at North Sea latitudes. Coverage goes to 79 percent, the worst gap drops from 118 minutes to 3, and 75 percent of alarms land under 250 milliseconds.
So for this market, orbit design is worth more than extra satellites. That is the kind of decision the twin exists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[6:00–7:15]
Regulation. The brief asks which authorities to engage first, and why.
One: Luxembourg, ILR and the Luxembourg Space Agency. OQ already holds a concession from November 2025; we extend it to ISL and regenerative operations.
Two: the ITU Radiocommunication Bureau, through Luxembourg, for priority filings: Article 9 coordination and the Article 22 EPFD limits that protect GSO systems.
Three: international waters. Offshore assets beyond territorial seas need no national landing rights, so this is where revenue can start earliest.
Four: the North Sea regulators and MNOs, UK, Norway, Denmark, the Netherlands and Germany, for coastal coverage. Five: EC and CEPT for spectrum.
The key idea is the bottom row. A regenerative gNB knows the user's identity, network and verified location. So we enforce data residency in the routing itself: each flow only lands at a gateway it is allowed to use, with local breakout, and the MNO keeps lawful intercept. In our twin, routing compliance was 100 percent in every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[7:15–8:30]
The business case. OQ asked for one viable segment first, not every segment at once.
Our first buyer is a European offshore energy operator or wind O&amp;M provider, think Equinor, Ørsted or Eni. They have a real, expensive pain: blind spots, missed alarms, and dependence on VSAT and fixed gateways. They work in international waters and care about European sovereignty.
The unit economics. Running the North Sea network, including replacing satellites, costs about 9 million euros a year. We break even at about 75,000 offshore assets paying 120 euros a year, or at about 9,000 sovereign or defence endpoints at a thousand euros or more.
We price per asset, never per byte. At two to three euros per megabyte, byte pricing would kill adoption. Revenue comes from integration fees, per-asset subscriptions by traffic class, a usage charge for the priority tier, and MNO wholesale roaming along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[8:30–9:15]
OQ asked us to benchmark against three families: bent-pipe NTN IoT, GEO NTN IoT, and regenerative direct-to-cell.
Sateliot is the closest analogue: wholesale to MNOs, store-and-forward, but still Rel-17 bent-pipe. Skylo owns no satellites and runs over GEO: about 240 milliseconds round trip and no polar coverage. Starlink and AST have already built the mesh this challenge describes, at a scale and capital level nobody here can match.
We are not trying to out-build any of them. We out-position them: European sovereignty, data residency enforced in routing, and open 3GPP standards, for offshore and institutional buyers who will not route their traffic through US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[9:15–9:45]
The risks are honest ones. The final payload limits may differ, so our policies are payload-independent and fall back to the ground. ISL and spectrum choices may change, so the twin simulates both and treats regulation as a hard constraint. And customers may resist new terminals, so we start with one alarm use case and a paid pilot with real SLA targets.
Next steps: in this Phase 2 we demo the live twin. Then we validate the 65-degree orbit with OQ's launch plan, and run a paid pilot with one North Sea operator. With the ISL, a software update reaches all 30 satellites in about an hour, versus 21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[9:45–10:00]
To sum up: alarms reach the cloud in about 85 milliseconds, the right orbit cuts the worst North Sea gap to three minutes, and every flow lands only where it is allowed to. Every signal, the right path. Thank you, we're happy to take questions, and to show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YNQ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058400" cy="14630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703320"/>
            <a:ext cx="7863840" cy="109728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YNQ_CONTENT">
    <p:bg>
      <p:bgPr>
        <a:solidFill>
          <a:schemeClr val="tx1"/>
        </a:solidFill>
      </p:bgPr>
    </p:bg>
    <p:spTree>
      <p:nvGrpSpPr>
        <p:cNvPr id="1" name=""/>
        <p:cNvGrpSpPr/>
        <p:nvPr/>
      </p:nvGrpSpPr>
      <p:grpSpPr>
        <a:xfrm>
          <a:off x="0" y="0"/>
          <a:ext cx="0" cy="0"/>
          <a:chOff x="0" y="0"/>
          <a:chExt cx="0" cy="0"/>
        </a:xfrm>
      </p:grpSpPr>
      <p:pic>
        <p:nvPicPr>
          <p:cNvPr id="2" name="Image 0" descr="/home/eagle/coding/Neo-challenge/company/OQ/02-brand/lynq-brand-kit/logos/orbital-link/icon/png/lynq-orbital-link-icon-dark-1024.png">    </p:cNvPr>
          <p:cNvPicPr>
            <a:picLocks noChangeAspect="1"/>
          </p:cNvPicPr>
          <p:nvPr/>
        </p:nvPicPr>
        <p:blipFill>
          <a:blip r:embed="rId1"/>
          <a:stretch>
            <a:fillRect/>
          </a:stretch>
        </p:blipFill>
        <p:spPr>
          <a:xfrm>
            <a:off x="548640" y="6419088"/>
            <a:ext cx="237744" cy="237744"/>
          </a:xfrm>
          <a:prstGeom prst="rect">
            <a:avLst/>
          </a:prstGeom>
        </p:spPr>
      </p:pic>
      <p:sp>
        <p:nvSpPr>
          <p:cNvPr id="3" name="Text 0"/>
          <p:cNvSpPr/>
          <p:nvPr/>
        </p:nvSpPr>
        <p:spPr>
          <a:xfrm>
            <a:off x="868680" y="6400800"/>
            <a:ext cx="5486400" cy="274320"/>
          </a:xfrm>
          <a:prstGeom prst="rect">
            <a:avLst/>
          </a:prstGeom>
          <a:noFill/>
          <a:ln/>
        </p:spPr>
        <p:txBody>
          <a:bodyPr wrap="square" lIns="0" tIns="0" rIns="0" bIns="0" rtlCol="0" anchor="ctr"/>
          <a:lstStyle/>
          <a:p>
            <a:pPr indent="0" marL="0">
              <a:buNone/>
            </a:pPr>
            <a:r>
              <a:rPr lang="en-US" sz="1000" spc="100" kern="0" dirty="0">
                <a:solidFill>
                  <a:schemeClr val="accent6"/>
                </a:solidFill>
              </a:rPr>
              <a:t>LYNQ NTN-PULSE  ·  NEOSPACE EUROPE 2026</a:t>
            </a:r>
            <a:endParaRPr lang="en-US" sz="1000" dirty="0"/>
          </a:p>
        </p:txBody>
      </p:sp>
      <p:sp>
        <p:nvSpPr>
          <p:cNvPr id="4" name="Text 1"/>
          <p:cNvSpPr/>
          <p:nvPr/>
        </p:nvSpPr>
        <p:spPr>
          <a:xfrm>
            <a:off x="6766560" y="6400800"/>
            <a:ext cx="4480560" cy="274320"/>
          </a:xfrm>
          <a:prstGeom prst="rect">
            <a:avLst/>
          </a:prstGeom>
          <a:noFill/>
          <a:ln/>
        </p:spPr>
        <p:txBody>
          <a:bodyPr wrap="square" lIns="0" tIns="0" rIns="0" bIns="0" rtlCol="0" anchor="ctr"/>
          <a:lstStyle/>
          <a:p>
            <a:pPr algn="r" indent="0" marL="0">
              <a:buNone/>
            </a:pPr>
            <a:r>
              <a:rPr lang="en-US" sz="1000" spc="100" kern="0" dirty="0">
                <a:solidFill>
                  <a:schemeClr val="accent6"/>
                </a:solidFill>
              </a:rPr>
              <a:t>CHALLENGE BY OQ TECHNOLOGY</a:t>
            </a:r>
            <a:endParaRPr lang="en-US" sz="1000" dirty="0"/>
          </a:p>
        </p:txBody>
      </p:sp>
      <p:sp>
        <p:nvSpPr>
          <p:cNvPr id="5" name="Text 2"/>
          <p:cNvSpPr/>
          <p:nvPr>
            <p:ph idx="103" type="body" hasCustomPrompt="1"/>
          </p:nvPr>
        </p:nvSpPr>
        <p:spPr>
          <a:xfrm>
            <a:off x="548640" y="365760"/>
            <a:ext cx="1106424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6" name="Text 2"/>
          <p:cNvSpPr/>
          <p:nvPr>
            <p:ph idx="104" type="title" hasCustomPrompt="1"/>
          </p:nvPr>
        </p:nvSpPr>
        <p:spPr>
          <a:xfrm>
            <a:off x="548640" y="685800"/>
            <a:ext cx="1106424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it-outer"/>
          <p:cNvSpPr/>
          <p:nvPr/>
        </p:nvSpPr>
        <p:spPr>
          <a:xfrm>
            <a:off x="6949440" y="-1280160"/>
            <a:ext cx="6949440" cy="6949440"/>
          </a:xfrm>
          <a:prstGeom prst="ellipse">
            <a:avLst/>
          </a:prstGeom>
          <a:ln w="12700">
            <a:solidFill>
              <a:srgbClr val="FFFFFF">
                <a:alpha val="12000"/>
              </a:srgbClr>
            </a:solidFill>
            <a:prstDash val="solid"/>
          </a:ln>
        </p:spPr>
      </p:sp>
      <p:sp>
        <p:nvSpPr>
          <p:cNvPr id="3" name="orbit-inner"/>
          <p:cNvSpPr/>
          <p:nvPr/>
        </p:nvSpPr>
        <p:spPr>
          <a:xfrm>
            <a:off x="8046720" y="-182880"/>
            <a:ext cx="4754880" cy="4754880"/>
          </a:xfrm>
          <a:prstGeom prst="ellipse">
            <a:avLst/>
          </a:prstGeom>
          <a:ln w="12700">
            <a:solidFill>
              <a:srgbClr val="FFFFFF">
                <a:alpha val="10000"/>
              </a:srgbClr>
            </a:solidFill>
            <a:prstDash val="solid"/>
          </a:ln>
        </p:spPr>
      </p:sp>
      <p:sp>
        <p:nvSpPr>
          <p:cNvPr id="4" name="node-1"/>
          <p:cNvSpPr/>
          <p:nvPr/>
        </p:nvSpPr>
        <p:spPr>
          <a:xfrm>
            <a:off x="8202168" y="4361688"/>
            <a:ext cx="146304" cy="146304"/>
          </a:xfrm>
          <a:prstGeom prst="ellipse">
            <a:avLst/>
          </a:prstGeom>
          <a:solidFill>
            <a:schemeClr val="accent1"/>
          </a:solidFill>
          <a:ln w="6350">
            <a:solidFill>
              <a:schemeClr val="accent1"/>
            </a:solidFill>
            <a:prstDash val="solid"/>
          </a:ln>
        </p:spPr>
      </p:sp>
      <p:sp>
        <p:nvSpPr>
          <p:cNvPr id="5" name="node-2"/>
          <p:cNvSpPr/>
          <p:nvPr/>
        </p:nvSpPr>
        <p:spPr>
          <a:xfrm>
            <a:off x="10351008" y="5596128"/>
            <a:ext cx="146304" cy="146304"/>
          </a:xfrm>
          <a:prstGeom prst="ellipse">
            <a:avLst/>
          </a:prstGeom>
          <a:solidFill>
            <a:schemeClr val="accent1"/>
          </a:solidFill>
          <a:ln w="6350">
            <a:solidFill>
              <a:schemeClr val="accent1"/>
            </a:solidFill>
            <a:prstDash val="solid"/>
          </a:ln>
        </p:spPr>
      </p:sp>
      <p:sp>
        <p:nvSpPr>
          <p:cNvPr id="6" name="node-3"/>
          <p:cNvSpPr/>
          <p:nvPr/>
        </p:nvSpPr>
        <p:spPr>
          <a:xfrm>
            <a:off x="11814048" y="3858768"/>
            <a:ext cx="146304" cy="146304"/>
          </a:xfrm>
          <a:prstGeom prst="ellipse">
            <a:avLst/>
          </a:prstGeom>
          <a:solidFill>
            <a:srgbClr val="FFFFFF"/>
          </a:solidFill>
          <a:ln w="6350">
            <a:solidFill>
              <a:srgbClr val="FFFFFF"/>
            </a:solidFill>
            <a:prstDash val="solid"/>
          </a:ln>
        </p:spPr>
      </p:sp>
      <p:sp>
        <p:nvSpPr>
          <p:cNvPr id="7" name="link-4"/>
          <p:cNvSpPr/>
          <p:nvPr/>
        </p:nvSpPr>
        <p:spPr>
          <a:xfrm>
            <a:off x="8275320" y="4434840"/>
            <a:ext cx="2148840" cy="1234440"/>
          </a:xfrm>
          <a:prstGeom prst="line">
            <a:avLst/>
          </a:prstGeom>
          <a:noFill/>
          <a:ln w="31750">
            <a:solidFill>
              <a:schemeClr val="accent1"/>
            </a:solidFill>
            <a:prstDash val="solid"/>
          </a:ln>
        </p:spPr>
      </p:sp>
      <p:pic>
        <p:nvPicPr>
          <p:cNvPr id="8" name="logo" descr="/home/eagle/coding/Neo-challenge/company/OQ/02-brand/lynq-brand-kit/logos/orbital-link/icon/png/lynq-orbital-link-icon-dark-1024.png">    </p:cNvPr>
          <p:cNvPicPr>
            <a:picLocks noChangeAspect="1"/>
          </p:cNvPicPr>
          <p:nvPr/>
        </p:nvPicPr>
        <p:blipFill>
          <a:blip r:embed="rId1"/>
          <a:stretch>
            <a:fillRect/>
          </a:stretch>
        </p:blipFill>
        <p:spPr>
          <a:xfrm>
            <a:off x="731520" y="731520"/>
            <a:ext cx="640080" cy="640080"/>
          </a:xfrm>
          <a:prstGeom prst="rect">
            <a:avLst/>
          </a:prstGeom>
        </p:spPr>
      </p:pic>
      <p:sp>
        <p:nvSpPr>
          <p:cNvPr id="9" name="text-5"/>
          <p:cNvSpPr txBox="1"/>
          <p:nvPr/>
        </p:nvSpPr>
        <p:spPr>
          <a:xfrm>
            <a:off x="1508760" y="777240"/>
            <a:ext cx="2743200" cy="548640"/>
          </a:xfrm>
          <a:prstGeom prst="rect">
            <a:avLst/>
          </a:prstGeom>
          <a:noFill/>
          <a:ln/>
        </p:spPr>
        <p:txBody>
          <a:bodyPr wrap="square" lIns="0" tIns="0" rIns="0" bIns="0" rtlCol="0" anchor="ctr"/>
          <a:lstStyle/>
          <a:p>
            <a:pPr indent="0" marL="0">
              <a:buNone/>
            </a:pPr>
            <a:r>
              <a:rPr lang="en-US" sz="3000" b="1" dirty="0">
                <a:solidFill>
                  <a:schemeClr val="bg1"/>
                </a:solidFill>
              </a:rPr>
              <a:t>Lynq</a:t>
            </a:r>
            <a:endParaRPr lang="en-US" sz="3000" dirty="0"/>
          </a:p>
        </p:txBody>
      </p:sp>
      <p:sp>
        <p:nvSpPr>
          <p:cNvPr id="10" name="Text 0"/>
          <p:cNvSpPr/>
          <p:nvPr>
            <p:ph idx="100" type="title" hasCustomPrompt="1"/>
          </p:nvPr>
        </p:nvSpPr>
        <p:spPr>
          <a:xfrm>
            <a:off x="731520" y="2148840"/>
            <a:ext cx="10058400" cy="1463040"/>
          </a:xfrm>
          <a:prstGeom prst="rect">
            <a:avLst/>
          </a:prstGeom>
          <a:noFill/>
          <a:ln/>
        </p:spPr>
        <p:txBody>
          <a:bodyPr wrap="square" lIns="0" tIns="0" rIns="0" bIns="0" rtlCol="0" anchor="b"/>
          <a:lstStyle/>
          <a:p>
            <a:pPr algn="l" indent="0" marL="0">
              <a:buNone/>
            </a:pPr>
            <a:r>
              <a:rPr lang="en-US" sz="5400" b="1" dirty="0">
                <a:solidFill>
                  <a:schemeClr val="bg1"/>
                </a:solidFill>
              </a:rPr>
              <a:t>Lynq NTN-Pulse</a:t>
            </a:r>
            <a:endParaRPr lang="en-US" sz="5400" dirty="0"/>
          </a:p>
        </p:txBody>
      </p:sp>
      <p:sp>
        <p:nvSpPr>
          <p:cNvPr id="11" name="Text 0"/>
          <p:cNvSpPr/>
          <p:nvPr>
            <p:ph idx="101" type="body" hasCustomPrompt="1"/>
          </p:nvPr>
        </p:nvSpPr>
        <p:spPr>
          <a:xfrm>
            <a:off x="731520" y="3703320"/>
            <a:ext cx="7863840" cy="1097280"/>
          </a:xfrm>
          <a:prstGeom prst="rect">
            <a:avLst/>
          </a:prstGeom>
          <a:noFill/>
          <a:ln/>
        </p:spPr>
        <p:txBody>
          <a:bodyPr wrap="square" lIns="0" tIns="0" rIns="0" bIns="0" rtlCol="0" anchor="t"/>
          <a:lstStyle/>
          <a:p>
            <a:pPr algn="l" indent="0" marL="0">
              <a:buNone/>
            </a:pPr>
            <a:r>
              <a:rPr lang="en-US" sz="2400" i="1" dirty="0">
                <a:solidFill>
                  <a:schemeClr val="accent1"/>
                </a:solidFill>
              </a:rPr>
              <a:t>Every signal, the right path.</a:t>
            </a:r>
            <a:endParaRPr lang="en-US" sz="2400" dirty="0"/>
          </a:p>
          <a:p>
            <a:pPr algn="l" indent="0" marL="0">
              <a:buNone/>
            </a:pPr>
            <a:r>
              <a:rPr lang="en-US" sz="1800" dirty="0">
                <a:solidFill>
                  <a:schemeClr val="bg2"/>
                </a:solidFill>
              </a:rPr>
              <a:t>Digital twin + policy engine for OQ's regenerative gNB-onboard LEO constellation</a:t>
            </a:r>
            <a:endParaRPr lang="en-US" sz="2400" dirty="0"/>
          </a:p>
        </p:txBody>
      </p:sp>
      <p:sp>
        <p:nvSpPr>
          <p:cNvPr id="12" name="text-6"/>
          <p:cNvSpPr txBox="1"/>
          <p:nvPr/>
        </p:nvSpPr>
        <p:spPr>
          <a:xfrm>
            <a:off x="731520" y="5394960"/>
            <a:ext cx="8229600" cy="320040"/>
          </a:xfrm>
          <a:prstGeom prst="rect">
            <a:avLst/>
          </a:prstGeom>
          <a:noFill/>
          <a:ln/>
        </p:spPr>
        <p:txBody>
          <a:bodyPr wrap="square" lIns="0" tIns="0" rIns="0" bIns="0" rtlCol="0" anchor="t"/>
          <a:lstStyle/>
          <a:p>
            <a:pPr indent="0" marL="0">
              <a:buNone/>
            </a:pPr>
            <a:r>
              <a:rPr lang="en-US" sz="1300" dirty="0">
                <a:solidFill>
                  <a:schemeClr val="bg2"/>
                </a:solidFill>
              </a:rPr>
              <a:t>AnyPoint-NTN challenge  ·  Next-Gen Downstream  ·  NEOSPACE Europe 2026, Luxembourg</a:t>
            </a:r>
            <a:endParaRPr lang="en-US" sz="1300" dirty="0"/>
          </a:p>
        </p:txBody>
      </p:sp>
      <p:sp>
        <p:nvSpPr>
          <p:cNvPr id="13" name="text-7"/>
          <p:cNvSpPr txBox="1"/>
          <p:nvPr/>
        </p:nvSpPr>
        <p:spPr>
          <a:xfrm>
            <a:off x="731520" y="5760720"/>
            <a:ext cx="8229600" cy="320040"/>
          </a:xfrm>
          <a:prstGeom prst="rect">
            <a:avLst/>
          </a:prstGeom>
          <a:noFill/>
          <a:ln/>
        </p:spPr>
        <p:txBody>
          <a:bodyPr wrap="square" lIns="0" tIns="0" rIns="0" bIns="0" rtlCol="0" anchor="t"/>
          <a:lstStyle/>
          <a:p>
            <a:pPr indent="0" marL="0">
              <a:buNone/>
            </a:pPr>
            <a:r>
              <a:rPr lang="en-US" sz="1300" dirty="0">
                <a:solidFill>
                  <a:schemeClr val="accent6"/>
                </a:solidFill>
              </a:rPr>
              <a:t>Davoud Jokar  ·  Ines Bouissou  ·  Gambhir Sharma  ·  Maryam Amini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01 · THE PROBLEM</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Bent-pipe satellites fail where offshore assets need them</a:t>
            </a:r>
            <a:endParaRPr lang="en-US" sz="3000" dirty="0"/>
          </a:p>
        </p:txBody>
      </p:sp>
      <p:sp>
        <p:nvSpPr>
          <p:cNvPr id="4" name="card-8"/>
          <p:cNvSpPr/>
          <p:nvPr/>
        </p:nvSpPr>
        <p:spPr>
          <a:xfrm>
            <a:off x="548640" y="1828800"/>
            <a:ext cx="3502152" cy="2880360"/>
          </a:xfrm>
          <a:prstGeom prst="roundRect">
            <a:avLst>
              <a:gd name="adj" fmla="val 3810"/>
            </a:avLst>
          </a:prstGeom>
          <a:solidFill>
            <a:schemeClr val="tx2"/>
          </a:solidFill>
          <a:ln w="9525">
            <a:solidFill>
              <a:srgbClr val="3A3A42"/>
            </a:solidFill>
            <a:prstDash val="solid"/>
          </a:ln>
        </p:spPr>
      </p:sp>
      <p:sp>
        <p:nvSpPr>
          <p:cNvPr id="5" name="icon-ring-9"/>
          <p:cNvSpPr/>
          <p:nvPr/>
        </p:nvSpPr>
        <p:spPr>
          <a:xfrm>
            <a:off x="868680" y="2148840"/>
            <a:ext cx="685800" cy="685800"/>
          </a:xfrm>
          <a:prstGeom prst="ellipse">
            <a:avLst/>
          </a:prstGeom>
          <a:solidFill>
            <a:schemeClr val="tx2"/>
          </a:solidFill>
          <a:ln w="15875">
            <a:solidFill>
              <a:schemeClr val="accent3"/>
            </a:solidFill>
            <a:prstDash val="solid"/>
          </a:ln>
        </p:spPr>
      </p:sp>
      <p:pic>
        <p:nvPicPr>
          <p:cNvPr id="6" name="icon-10" descr="preencoded.png">    </p:cNvPr>
          <p:cNvPicPr>
            <a:picLocks noChangeAspect="1"/>
          </p:cNvPicPr>
          <p:nvPr/>
        </p:nvPicPr>
        <p:blipFill>
          <a:blip r:embed="rId1"/>
          <a:stretch>
            <a:fillRect/>
          </a:stretch>
        </p:blipFill>
        <p:spPr>
          <a:xfrm>
            <a:off x="1019556" y="2299716"/>
            <a:ext cx="384048" cy="384048"/>
          </a:xfrm>
          <a:prstGeom prst="rect">
            <a:avLst/>
          </a:prstGeom>
        </p:spPr>
      </p:pic>
      <p:sp>
        <p:nvSpPr>
          <p:cNvPr id="7" name="text-11"/>
          <p:cNvSpPr txBox="1"/>
          <p:nvPr/>
        </p:nvSpPr>
        <p:spPr>
          <a:xfrm>
            <a:off x="868680" y="3017520"/>
            <a:ext cx="2862072" cy="411480"/>
          </a:xfrm>
          <a:prstGeom prst="rect">
            <a:avLst/>
          </a:prstGeom>
          <a:noFill/>
          <a:ln/>
        </p:spPr>
        <p:txBody>
          <a:bodyPr wrap="square" lIns="0" tIns="0" rIns="0" bIns="0" rtlCol="0" anchor="t"/>
          <a:lstStyle/>
          <a:p>
            <a:pPr indent="0" marL="0">
              <a:buNone/>
            </a:pPr>
            <a:r>
              <a:rPr lang="en-US" sz="1800" b="1" dirty="0">
                <a:solidFill>
                  <a:schemeClr val="bg1"/>
                </a:solidFill>
              </a:rPr>
              <a:t>No gateway, no service</a:t>
            </a:r>
            <a:endParaRPr lang="en-US" sz="1800" dirty="0"/>
          </a:p>
        </p:txBody>
      </p:sp>
      <p:sp>
        <p:nvSpPr>
          <p:cNvPr id="8" name="text-12"/>
          <p:cNvSpPr txBox="1"/>
          <p:nvPr/>
        </p:nvSpPr>
        <p:spPr>
          <a:xfrm>
            <a:off x="868680" y="3474720"/>
            <a:ext cx="2862072" cy="1143000"/>
          </a:xfrm>
          <a:prstGeom prst="rect">
            <a:avLst/>
          </a:prstGeom>
          <a:noFill/>
          <a:ln/>
        </p:spPr>
        <p:txBody>
          <a:bodyPr wrap="square" lIns="0" tIns="0" rIns="0" bIns="0" rtlCol="0" anchor="t"/>
          <a:lstStyle/>
          <a:p>
            <a:pPr indent="0" marL="0">
              <a:buNone/>
            </a:pPr>
            <a:r>
              <a:rPr lang="en-US" sz="1400" dirty="0">
                <a:solidFill>
                  <a:schemeClr val="bg2"/>
                </a:solidFill>
              </a:rPr>
              <a:t>A bent-pipe satellite only relays. If no ground gateway is in view at the same time as the terminal, the message waits or drops.</a:t>
            </a:r>
            <a:endParaRPr lang="en-US" sz="1400" dirty="0"/>
          </a:p>
        </p:txBody>
      </p:sp>
      <p:sp>
        <p:nvSpPr>
          <p:cNvPr id="9" name="card-13"/>
          <p:cNvSpPr/>
          <p:nvPr/>
        </p:nvSpPr>
        <p:spPr>
          <a:xfrm>
            <a:off x="4325112" y="1828800"/>
            <a:ext cx="3502152" cy="2880360"/>
          </a:xfrm>
          <a:prstGeom prst="roundRect">
            <a:avLst>
              <a:gd name="adj" fmla="val 3810"/>
            </a:avLst>
          </a:prstGeom>
          <a:solidFill>
            <a:schemeClr val="tx2"/>
          </a:solidFill>
          <a:ln w="9525">
            <a:solidFill>
              <a:srgbClr val="3A3A42"/>
            </a:solidFill>
            <a:prstDash val="solid"/>
          </a:ln>
        </p:spPr>
      </p:sp>
      <p:sp>
        <p:nvSpPr>
          <p:cNvPr id="10" name="icon-ring-14"/>
          <p:cNvSpPr/>
          <p:nvPr/>
        </p:nvSpPr>
        <p:spPr>
          <a:xfrm>
            <a:off x="4645152" y="2148840"/>
            <a:ext cx="685800" cy="685800"/>
          </a:xfrm>
          <a:prstGeom prst="ellipse">
            <a:avLst/>
          </a:prstGeom>
          <a:solidFill>
            <a:schemeClr val="tx2"/>
          </a:solidFill>
          <a:ln w="15875">
            <a:solidFill>
              <a:schemeClr val="accent2"/>
            </a:solidFill>
            <a:prstDash val="solid"/>
          </a:ln>
        </p:spPr>
      </p:sp>
      <p:pic>
        <p:nvPicPr>
          <p:cNvPr id="11" name="icon-15" descr="preencoded.png">    </p:cNvPr>
          <p:cNvPicPr>
            <a:picLocks noChangeAspect="1"/>
          </p:cNvPicPr>
          <p:nvPr/>
        </p:nvPicPr>
        <p:blipFill>
          <a:blip r:embed="rId2"/>
          <a:stretch>
            <a:fillRect/>
          </a:stretch>
        </p:blipFill>
        <p:spPr>
          <a:xfrm>
            <a:off x="4796028" y="2299716"/>
            <a:ext cx="384048" cy="384048"/>
          </a:xfrm>
          <a:prstGeom prst="rect">
            <a:avLst/>
          </a:prstGeom>
        </p:spPr>
      </p:pic>
      <p:sp>
        <p:nvSpPr>
          <p:cNvPr id="12" name="text-16"/>
          <p:cNvSpPr txBox="1"/>
          <p:nvPr/>
        </p:nvSpPr>
        <p:spPr>
          <a:xfrm>
            <a:off x="4645152" y="3017520"/>
            <a:ext cx="2862072" cy="411480"/>
          </a:xfrm>
          <a:prstGeom prst="rect">
            <a:avLst/>
          </a:prstGeom>
          <a:noFill/>
          <a:ln/>
        </p:spPr>
        <p:txBody>
          <a:bodyPr wrap="square" lIns="0" tIns="0" rIns="0" bIns="0" rtlCol="0" anchor="t"/>
          <a:lstStyle/>
          <a:p>
            <a:pPr indent="0" marL="0">
              <a:buNone/>
            </a:pPr>
            <a:r>
              <a:rPr lang="en-US" sz="1800" b="1" dirty="0">
                <a:solidFill>
                  <a:schemeClr val="bg1"/>
                </a:solidFill>
              </a:rPr>
              <a:t>Gateway not allowed</a:t>
            </a:r>
            <a:endParaRPr lang="en-US" sz="1800" dirty="0"/>
          </a:p>
        </p:txBody>
      </p:sp>
      <p:sp>
        <p:nvSpPr>
          <p:cNvPr id="13" name="text-17"/>
          <p:cNvSpPr txBox="1"/>
          <p:nvPr/>
        </p:nvSpPr>
        <p:spPr>
          <a:xfrm>
            <a:off x="4645152" y="3474720"/>
            <a:ext cx="2862072" cy="1143000"/>
          </a:xfrm>
          <a:prstGeom prst="rect">
            <a:avLst/>
          </a:prstGeom>
          <a:noFill/>
          <a:ln/>
        </p:spPr>
        <p:txBody>
          <a:bodyPr wrap="square" lIns="0" tIns="0" rIns="0" bIns="0" rtlCol="0" anchor="t"/>
          <a:lstStyle/>
          <a:p>
            <a:pPr indent="0" marL="0">
              <a:buNone/>
            </a:pPr>
            <a:r>
              <a:rPr lang="en-US" sz="1400" dirty="0">
                <a:solidFill>
                  <a:schemeClr val="bg2"/>
                </a:solidFill>
              </a:rPr>
              <a:t>A gateway can be in view but blocked by national rules, data residency or licensing. Technically fine, legally unusable.</a:t>
            </a:r>
            <a:endParaRPr lang="en-US" sz="1400" dirty="0"/>
          </a:p>
        </p:txBody>
      </p:sp>
      <p:sp>
        <p:nvSpPr>
          <p:cNvPr id="14" name="card-18"/>
          <p:cNvSpPr/>
          <p:nvPr/>
        </p:nvSpPr>
        <p:spPr>
          <a:xfrm>
            <a:off x="8101584" y="1828800"/>
            <a:ext cx="3502152" cy="2880360"/>
          </a:xfrm>
          <a:prstGeom prst="roundRect">
            <a:avLst>
              <a:gd name="adj" fmla="val 3810"/>
            </a:avLst>
          </a:prstGeom>
          <a:solidFill>
            <a:schemeClr val="tx2"/>
          </a:solidFill>
          <a:ln w="9525">
            <a:solidFill>
              <a:srgbClr val="3A3A42"/>
            </a:solidFill>
            <a:prstDash val="solid"/>
          </a:ln>
        </p:spPr>
      </p:sp>
      <p:sp>
        <p:nvSpPr>
          <p:cNvPr id="15" name="icon-ring-19"/>
          <p:cNvSpPr/>
          <p:nvPr/>
        </p:nvSpPr>
        <p:spPr>
          <a:xfrm>
            <a:off x="8421624" y="2148840"/>
            <a:ext cx="685800" cy="685800"/>
          </a:xfrm>
          <a:prstGeom prst="ellipse">
            <a:avLst/>
          </a:prstGeom>
          <a:solidFill>
            <a:schemeClr val="tx2"/>
          </a:solidFill>
          <a:ln w="15875">
            <a:solidFill>
              <a:schemeClr val="accent1"/>
            </a:solidFill>
            <a:prstDash val="solid"/>
          </a:ln>
        </p:spPr>
      </p:sp>
      <p:pic>
        <p:nvPicPr>
          <p:cNvPr id="16" name="icon-20" descr="preencoded.png">    </p:cNvPr>
          <p:cNvPicPr>
            <a:picLocks noChangeAspect="1"/>
          </p:cNvPicPr>
          <p:nvPr/>
        </p:nvPicPr>
        <p:blipFill>
          <a:blip r:embed="rId3"/>
          <a:stretch>
            <a:fillRect/>
          </a:stretch>
        </p:blipFill>
        <p:spPr>
          <a:xfrm>
            <a:off x="8572500" y="2299716"/>
            <a:ext cx="384048" cy="384048"/>
          </a:xfrm>
          <a:prstGeom prst="rect">
            <a:avLst/>
          </a:prstGeom>
        </p:spPr>
      </p:pic>
      <p:sp>
        <p:nvSpPr>
          <p:cNvPr id="17" name="text-21"/>
          <p:cNvSpPr txBox="1"/>
          <p:nvPr/>
        </p:nvSpPr>
        <p:spPr>
          <a:xfrm>
            <a:off x="8421624" y="3017520"/>
            <a:ext cx="2862072" cy="411480"/>
          </a:xfrm>
          <a:prstGeom prst="rect">
            <a:avLst/>
          </a:prstGeom>
          <a:noFill/>
          <a:ln/>
        </p:spPr>
        <p:txBody>
          <a:bodyPr wrap="square" lIns="0" tIns="0" rIns="0" bIns="0" rtlCol="0" anchor="t"/>
          <a:lstStyle/>
          <a:p>
            <a:pPr indent="0" marL="0">
              <a:buNone/>
            </a:pPr>
            <a:r>
              <a:rPr lang="en-US" sz="1800" b="1" dirty="0">
                <a:solidFill>
                  <a:schemeClr val="bg1"/>
                </a:solidFill>
              </a:rPr>
              <a:t>Mixed traffic, one queue</a:t>
            </a:r>
            <a:endParaRPr lang="en-US" sz="1800" dirty="0"/>
          </a:p>
        </p:txBody>
      </p:sp>
      <p:sp>
        <p:nvSpPr>
          <p:cNvPr id="18" name="text-22"/>
          <p:cNvSpPr txBox="1"/>
          <p:nvPr/>
        </p:nvSpPr>
        <p:spPr>
          <a:xfrm>
            <a:off x="8421624" y="3474720"/>
            <a:ext cx="2862072" cy="1143000"/>
          </a:xfrm>
          <a:prstGeom prst="rect">
            <a:avLst/>
          </a:prstGeom>
          <a:noFill/>
          <a:ln/>
        </p:spPr>
        <p:txBody>
          <a:bodyPr wrap="square" lIns="0" tIns="0" rIns="0" bIns="0" rtlCol="0" anchor="t"/>
          <a:lstStyle/>
          <a:p>
            <a:pPr indent="0" marL="0">
              <a:buNone/>
            </a:pPr>
            <a:r>
              <a:rPr lang="en-US" sz="1400" dirty="0">
                <a:solidFill>
                  <a:schemeClr val="bg2"/>
                </a:solidFill>
              </a:rPr>
              <a:t>A shutdown alarm and a 100 kB log file get the same treatment. Critical traffic should never wait behind bulk data.</a:t>
            </a:r>
            <a:endParaRPr lang="en-US" sz="1400" dirty="0"/>
          </a:p>
        </p:txBody>
      </p:sp>
      <p:sp>
        <p:nvSpPr>
          <p:cNvPr id="19" name="card-23"/>
          <p:cNvSpPr/>
          <p:nvPr/>
        </p:nvSpPr>
        <p:spPr>
          <a:xfrm>
            <a:off x="548640" y="4983480"/>
            <a:ext cx="11064240" cy="1097280"/>
          </a:xfrm>
          <a:prstGeom prst="roundRect">
            <a:avLst>
              <a:gd name="adj" fmla="val 10000"/>
            </a:avLst>
          </a:prstGeom>
          <a:solidFill>
            <a:schemeClr val="tx2"/>
          </a:solidFill>
          <a:ln w="9525">
            <a:solidFill>
              <a:srgbClr val="3A3A42"/>
            </a:solidFill>
            <a:prstDash val="solid"/>
          </a:ln>
        </p:spPr>
      </p:sp>
      <p:sp>
        <p:nvSpPr>
          <p:cNvPr id="20" name="icon-ring-24"/>
          <p:cNvSpPr/>
          <p:nvPr/>
        </p:nvSpPr>
        <p:spPr>
          <a:xfrm>
            <a:off x="822960" y="5166360"/>
            <a:ext cx="731520" cy="731520"/>
          </a:xfrm>
          <a:prstGeom prst="ellipse">
            <a:avLst/>
          </a:prstGeom>
          <a:solidFill>
            <a:schemeClr val="tx2"/>
          </a:solidFill>
          <a:ln w="15875">
            <a:solidFill>
              <a:schemeClr val="accent1"/>
            </a:solidFill>
            <a:prstDash val="solid"/>
          </a:ln>
        </p:spPr>
      </p:sp>
      <p:pic>
        <p:nvPicPr>
          <p:cNvPr id="21" name="icon-25" descr="preencoded.png">    </p:cNvPr>
          <p:cNvPicPr>
            <a:picLocks noChangeAspect="1"/>
          </p:cNvPicPr>
          <p:nvPr/>
        </p:nvPicPr>
        <p:blipFill>
          <a:blip r:embed="rId4"/>
          <a:stretch>
            <a:fillRect/>
          </a:stretch>
        </p:blipFill>
        <p:spPr>
          <a:xfrm>
            <a:off x="983894" y="5327294"/>
            <a:ext cx="409651" cy="409651"/>
          </a:xfrm>
          <a:prstGeom prst="rect">
            <a:avLst/>
          </a:prstGeom>
        </p:spPr>
      </p:pic>
      <p:sp>
        <p:nvSpPr>
          <p:cNvPr id="22" name="text-26"/>
          <p:cNvSpPr txBox="1"/>
          <p:nvPr/>
        </p:nvSpPr>
        <p:spPr>
          <a:xfrm>
            <a:off x="1783080" y="5120640"/>
            <a:ext cx="9601200" cy="822960"/>
          </a:xfrm>
          <a:prstGeom prst="rect">
            <a:avLst/>
          </a:prstGeom>
          <a:noFill/>
          <a:ln/>
        </p:spPr>
        <p:txBody>
          <a:bodyPr wrap="square" lIns="0" tIns="0" rIns="0" bIns="0" rtlCol="0" anchor="ctr"/>
          <a:lstStyle/>
          <a:p>
            <a:pPr indent="0" marL="0">
              <a:buNone/>
            </a:pPr>
            <a:r>
              <a:rPr lang="en-US" sz="1600" b="1" dirty="0">
                <a:solidFill>
                  <a:schemeClr val="accent1"/>
                </a:solidFill>
              </a:rPr>
              <a:t>Who is hit hardest: </a:t>
            </a:r>
            <a:pPr indent="0" marL="0">
              <a:buNone/>
            </a:pPr>
            <a:r>
              <a:rPr lang="en-US" sz="1600" dirty="0">
                <a:solidFill>
                  <a:schemeClr val="bg1"/>
                </a:solidFill>
              </a:rPr>
              <a:t>offshore wind farms, oil &amp; gas platforms, vessels and pipelines in the North Sea (~51–61°N), far from terrestrial cells, across five national sectors (UK, NO, DK, NL, DE).</a:t>
            </a:r>
            <a:endParaRPr lang="en-US" sz="16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02 · OUR ANSWER</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NTN-Pulse picks a compliant path for every message</a:t>
            </a:r>
            <a:endParaRPr lang="en-US" sz="3000" dirty="0"/>
          </a:p>
        </p:txBody>
      </p:sp>
      <p:sp>
        <p:nvSpPr>
          <p:cNvPr id="4" name="orbit-arc"/>
          <p:cNvSpPr/>
          <p:nvPr/>
        </p:nvSpPr>
        <p:spPr>
          <a:xfrm>
            <a:off x="-1828800" y="2057400"/>
            <a:ext cx="15819120" cy="5486400"/>
          </a:xfrm>
          <a:prstGeom prst="ellipse">
            <a:avLst/>
          </a:prstGeom>
          <a:ln w="12700">
            <a:solidFill>
              <a:srgbClr val="FFFFFF">
                <a:alpha val="15000"/>
              </a:srgbClr>
            </a:solidFill>
            <a:prstDash val="solid"/>
          </a:ln>
        </p:spPr>
      </p:sp>
      <p:sp>
        <p:nvSpPr>
          <p:cNvPr id="5" name="link-27"/>
          <p:cNvSpPr/>
          <p:nvPr/>
        </p:nvSpPr>
        <p:spPr>
          <a:xfrm>
            <a:off x="2743200" y="2313432"/>
            <a:ext cx="1554480" cy="1435608"/>
          </a:xfrm>
          <a:prstGeom prst="line">
            <a:avLst/>
          </a:prstGeom>
          <a:noFill/>
          <a:ln w="22225">
            <a:solidFill>
              <a:srgbClr val="6B6B73"/>
            </a:solidFill>
            <a:prstDash val="sysDot"/>
          </a:ln>
        </p:spPr>
      </p:sp>
      <p:sp>
        <p:nvSpPr>
          <p:cNvPr id="6" name="link-28"/>
          <p:cNvSpPr/>
          <p:nvPr/>
        </p:nvSpPr>
        <p:spPr>
          <a:xfrm flipV="1">
            <a:off x="1188720" y="2313432"/>
            <a:ext cx="1554480" cy="1435608"/>
          </a:xfrm>
          <a:prstGeom prst="line">
            <a:avLst/>
          </a:prstGeom>
          <a:noFill/>
          <a:ln w="38100">
            <a:solidFill>
              <a:schemeClr val="accent1"/>
            </a:solidFill>
            <a:prstDash val="solid"/>
          </a:ln>
        </p:spPr>
      </p:sp>
      <p:sp>
        <p:nvSpPr>
          <p:cNvPr id="7" name="link-29"/>
          <p:cNvSpPr/>
          <p:nvPr/>
        </p:nvSpPr>
        <p:spPr>
          <a:xfrm flipV="1">
            <a:off x="2743200" y="2130552"/>
            <a:ext cx="2377440" cy="182880"/>
          </a:xfrm>
          <a:prstGeom prst="line">
            <a:avLst/>
          </a:prstGeom>
          <a:noFill/>
          <a:ln w="38100">
            <a:solidFill>
              <a:schemeClr val="accent1"/>
            </a:solidFill>
            <a:prstDash val="dash"/>
          </a:ln>
        </p:spPr>
      </p:sp>
      <p:sp>
        <p:nvSpPr>
          <p:cNvPr id="8" name="link-30"/>
          <p:cNvSpPr/>
          <p:nvPr/>
        </p:nvSpPr>
        <p:spPr>
          <a:xfrm flipV="1">
            <a:off x="5120640" y="2103120"/>
            <a:ext cx="2377440" cy="27432"/>
          </a:xfrm>
          <a:prstGeom prst="line">
            <a:avLst/>
          </a:prstGeom>
          <a:noFill/>
          <a:ln w="38100">
            <a:solidFill>
              <a:schemeClr val="accent1"/>
            </a:solidFill>
            <a:prstDash val="solid"/>
          </a:ln>
        </p:spPr>
      </p:sp>
      <p:sp>
        <p:nvSpPr>
          <p:cNvPr id="9" name="link-31"/>
          <p:cNvSpPr/>
          <p:nvPr/>
        </p:nvSpPr>
        <p:spPr>
          <a:xfrm>
            <a:off x="7498080" y="2103120"/>
            <a:ext cx="1188720" cy="1645920"/>
          </a:xfrm>
          <a:prstGeom prst="line">
            <a:avLst/>
          </a:prstGeom>
          <a:noFill/>
          <a:ln w="38100">
            <a:solidFill>
              <a:schemeClr val="accent1"/>
            </a:solidFill>
            <a:prstDash val="solid"/>
          </a:ln>
        </p:spPr>
      </p:sp>
      <p:sp>
        <p:nvSpPr>
          <p:cNvPr id="10" name="link-32"/>
          <p:cNvSpPr/>
          <p:nvPr/>
        </p:nvSpPr>
        <p:spPr>
          <a:xfrm>
            <a:off x="8686800" y="3749040"/>
            <a:ext cx="1920240" cy="914"/>
          </a:xfrm>
          <a:prstGeom prst="line">
            <a:avLst/>
          </a:prstGeom>
          <a:noFill/>
          <a:ln w="38100">
            <a:solidFill>
              <a:schemeClr val="accent1"/>
            </a:solidFill>
            <a:prstDash val="solid"/>
          </a:ln>
        </p:spPr>
      </p:sp>
      <p:sp>
        <p:nvSpPr>
          <p:cNvPr id="11" name="node-33"/>
          <p:cNvSpPr/>
          <p:nvPr/>
        </p:nvSpPr>
        <p:spPr>
          <a:xfrm>
            <a:off x="2633472" y="2203704"/>
            <a:ext cx="219456" cy="219456"/>
          </a:xfrm>
          <a:prstGeom prst="ellipse">
            <a:avLst/>
          </a:prstGeom>
          <a:solidFill>
            <a:schemeClr val="accent1"/>
          </a:solidFill>
          <a:ln w="6350">
            <a:solidFill>
              <a:schemeClr val="accent1"/>
            </a:solidFill>
            <a:prstDash val="solid"/>
          </a:ln>
        </p:spPr>
      </p:sp>
      <p:sp>
        <p:nvSpPr>
          <p:cNvPr id="12" name="node-34"/>
          <p:cNvSpPr/>
          <p:nvPr/>
        </p:nvSpPr>
        <p:spPr>
          <a:xfrm>
            <a:off x="5010912" y="2020824"/>
            <a:ext cx="219456" cy="219456"/>
          </a:xfrm>
          <a:prstGeom prst="ellipse">
            <a:avLst/>
          </a:prstGeom>
          <a:solidFill>
            <a:schemeClr val="accent1"/>
          </a:solidFill>
          <a:ln w="6350">
            <a:solidFill>
              <a:schemeClr val="accent1"/>
            </a:solidFill>
            <a:prstDash val="solid"/>
          </a:ln>
        </p:spPr>
      </p:sp>
      <p:sp>
        <p:nvSpPr>
          <p:cNvPr id="13" name="node-35"/>
          <p:cNvSpPr/>
          <p:nvPr/>
        </p:nvSpPr>
        <p:spPr>
          <a:xfrm>
            <a:off x="7388352" y="1993392"/>
            <a:ext cx="219456" cy="219456"/>
          </a:xfrm>
          <a:prstGeom prst="ellipse">
            <a:avLst/>
          </a:prstGeom>
          <a:solidFill>
            <a:schemeClr val="accent1"/>
          </a:solidFill>
          <a:ln w="6350">
            <a:solidFill>
              <a:schemeClr val="accent1"/>
            </a:solidFill>
            <a:prstDash val="solid"/>
          </a:ln>
        </p:spPr>
      </p:sp>
      <p:sp>
        <p:nvSpPr>
          <p:cNvPr id="14" name="node-36"/>
          <p:cNvSpPr/>
          <p:nvPr/>
        </p:nvSpPr>
        <p:spPr>
          <a:xfrm>
            <a:off x="9784080" y="2304288"/>
            <a:ext cx="182880" cy="182880"/>
          </a:xfrm>
          <a:prstGeom prst="ellipse">
            <a:avLst/>
          </a:prstGeom>
          <a:solidFill>
            <a:srgbClr val="FFFFFF"/>
          </a:solidFill>
          <a:ln w="6350">
            <a:solidFill>
              <a:srgbClr val="FFFFFF"/>
            </a:solidFill>
            <a:prstDash val="solid"/>
          </a:ln>
        </p:spPr>
      </p:sp>
      <p:sp>
        <p:nvSpPr>
          <p:cNvPr id="15" name="gw-ok"/>
          <p:cNvSpPr/>
          <p:nvPr/>
        </p:nvSpPr>
        <p:spPr>
          <a:xfrm>
            <a:off x="8558784" y="3621024"/>
            <a:ext cx="256032" cy="256032"/>
          </a:xfrm>
          <a:prstGeom prst="rect">
            <a:avLst/>
          </a:prstGeom>
          <a:solidFill>
            <a:schemeClr val="accent1"/>
          </a:solidFill>
          <a:ln w="12700">
            <a:solidFill>
              <a:schemeClr val="accent1"/>
            </a:solidFill>
            <a:prstDash val="solid"/>
          </a:ln>
        </p:spPr>
      </p:sp>
      <p:sp>
        <p:nvSpPr>
          <p:cNvPr id="16" name="gw-blocked"/>
          <p:cNvSpPr/>
          <p:nvPr/>
        </p:nvSpPr>
        <p:spPr>
          <a:xfrm>
            <a:off x="4169664" y="3621024"/>
            <a:ext cx="256032" cy="256032"/>
          </a:xfrm>
          <a:prstGeom prst="rect">
            <a:avLst/>
          </a:prstGeom>
          <a:ln w="25400">
            <a:solidFill>
              <a:srgbClr val="6B6B73"/>
            </a:solidFill>
            <a:prstDash val="solid"/>
          </a:ln>
        </p:spPr>
      </p:sp>
      <p:sp>
        <p:nvSpPr>
          <p:cNvPr id="17" name="link-37"/>
          <p:cNvSpPr/>
          <p:nvPr/>
        </p:nvSpPr>
        <p:spPr>
          <a:xfrm flipV="1">
            <a:off x="4069080" y="3520440"/>
            <a:ext cx="457200" cy="457200"/>
          </a:xfrm>
          <a:prstGeom prst="line">
            <a:avLst/>
          </a:prstGeom>
          <a:noFill/>
          <a:ln w="25400">
            <a:solidFill>
              <a:srgbClr val="6B6B73"/>
            </a:solidFill>
            <a:prstDash val="solid"/>
          </a:ln>
        </p:spPr>
      </p:sp>
      <p:pic>
        <p:nvPicPr>
          <p:cNvPr id="18" name="terminal-icon" descr="preencoded.png">    </p:cNvPr>
          <p:cNvPicPr>
            <a:picLocks noChangeAspect="1"/>
          </p:cNvPicPr>
          <p:nvPr/>
        </p:nvPicPr>
        <p:blipFill>
          <a:blip r:embed="rId1"/>
          <a:stretch>
            <a:fillRect/>
          </a:stretch>
        </p:blipFill>
        <p:spPr>
          <a:xfrm>
            <a:off x="960120" y="3566160"/>
            <a:ext cx="457200" cy="457200"/>
          </a:xfrm>
          <a:prstGeom prst="rect">
            <a:avLst/>
          </a:prstGeom>
        </p:spPr>
      </p:pic>
      <p:pic>
        <p:nvPicPr>
          <p:cNvPr id="19" name="cloud-icon" descr="preencoded.png">    </p:cNvPr>
          <p:cNvPicPr>
            <a:picLocks noChangeAspect="1"/>
          </p:cNvPicPr>
          <p:nvPr/>
        </p:nvPicPr>
        <p:blipFill>
          <a:blip r:embed="rId2"/>
          <a:stretch>
            <a:fillRect/>
          </a:stretch>
        </p:blipFill>
        <p:spPr>
          <a:xfrm>
            <a:off x="10607040" y="3474720"/>
            <a:ext cx="548640" cy="548640"/>
          </a:xfrm>
          <a:prstGeom prst="rect">
            <a:avLst/>
          </a:prstGeom>
        </p:spPr>
      </p:pic>
      <p:sp>
        <p:nvSpPr>
          <p:cNvPr id="20" name="text-38"/>
          <p:cNvSpPr txBox="1"/>
          <p:nvPr/>
        </p:nvSpPr>
        <p:spPr>
          <a:xfrm>
            <a:off x="182880" y="4114800"/>
            <a:ext cx="2011680" cy="274320"/>
          </a:xfrm>
          <a:prstGeom prst="rect">
            <a:avLst/>
          </a:prstGeom>
          <a:noFill/>
          <a:ln/>
        </p:spPr>
        <p:txBody>
          <a:bodyPr wrap="square" lIns="0" tIns="0" rIns="0" bIns="0" rtlCol="0" anchor="t"/>
          <a:lstStyle/>
          <a:p>
            <a:pPr algn="ctr" indent="0" marL="0">
              <a:buNone/>
            </a:pPr>
            <a:r>
              <a:rPr lang="en-US" sz="1200" b="1" spc="100" kern="0" dirty="0">
                <a:solidFill>
                  <a:schemeClr val="bg2"/>
                </a:solidFill>
              </a:rPr>
              <a:t>OFFSHORE TERMINAL</a:t>
            </a:r>
            <a:endParaRPr lang="en-US" sz="1200" dirty="0"/>
          </a:p>
        </p:txBody>
      </p:sp>
      <p:sp>
        <p:nvSpPr>
          <p:cNvPr id="21" name="text-39"/>
          <p:cNvSpPr txBox="1"/>
          <p:nvPr/>
        </p:nvSpPr>
        <p:spPr>
          <a:xfrm>
            <a:off x="1828800" y="1828800"/>
            <a:ext cx="1828800" cy="274320"/>
          </a:xfrm>
          <a:prstGeom prst="rect">
            <a:avLst/>
          </a:prstGeom>
          <a:noFill/>
          <a:ln/>
        </p:spPr>
        <p:txBody>
          <a:bodyPr wrap="square" lIns="0" tIns="0" rIns="0" bIns="0" rtlCol="0" anchor="t"/>
          <a:lstStyle/>
          <a:p>
            <a:pPr algn="ctr" indent="0" marL="0">
              <a:buNone/>
            </a:pPr>
            <a:r>
              <a:rPr lang="en-US" sz="1200" b="1" spc="100" kern="0" dirty="0">
                <a:solidFill>
                  <a:schemeClr val="bg2"/>
                </a:solidFill>
              </a:rPr>
              <a:t>ONBOARD gNB</a:t>
            </a:r>
            <a:endParaRPr lang="en-US" sz="1200" dirty="0"/>
          </a:p>
        </p:txBody>
      </p:sp>
      <p:sp>
        <p:nvSpPr>
          <p:cNvPr id="22" name="text-40"/>
          <p:cNvSpPr txBox="1"/>
          <p:nvPr/>
        </p:nvSpPr>
        <p:spPr>
          <a:xfrm>
            <a:off x="3474720" y="2514600"/>
            <a:ext cx="1280160" cy="274320"/>
          </a:xfrm>
          <a:prstGeom prst="rect">
            <a:avLst/>
          </a:prstGeom>
          <a:noFill/>
          <a:ln/>
        </p:spPr>
        <p:txBody>
          <a:bodyPr wrap="square" lIns="0" tIns="0" rIns="0" bIns="0" rtlCol="0" anchor="t"/>
          <a:lstStyle/>
          <a:p>
            <a:pPr algn="ctr" indent="0" marL="0">
              <a:buNone/>
            </a:pPr>
            <a:r>
              <a:rPr lang="en-US" sz="1200" b="1" spc="100" kern="0" dirty="0">
                <a:solidFill>
                  <a:schemeClr val="accent1"/>
                </a:solidFill>
              </a:rPr>
              <a:t>RF ISL</a:t>
            </a:r>
            <a:endParaRPr lang="en-US" sz="1200" dirty="0"/>
          </a:p>
        </p:txBody>
      </p:sp>
      <p:sp>
        <p:nvSpPr>
          <p:cNvPr id="23" name="text-41"/>
          <p:cNvSpPr txBox="1"/>
          <p:nvPr/>
        </p:nvSpPr>
        <p:spPr>
          <a:xfrm>
            <a:off x="5669280" y="1691640"/>
            <a:ext cx="1463040" cy="274320"/>
          </a:xfrm>
          <a:prstGeom prst="rect">
            <a:avLst/>
          </a:prstGeom>
          <a:noFill/>
          <a:ln/>
        </p:spPr>
        <p:txBody>
          <a:bodyPr wrap="square" lIns="0" tIns="0" rIns="0" bIns="0" rtlCol="0" anchor="t"/>
          <a:lstStyle/>
          <a:p>
            <a:pPr algn="ctr" indent="0" marL="0">
              <a:buNone/>
            </a:pPr>
            <a:r>
              <a:rPr lang="en-US" sz="1200" b="1" spc="100" kern="0" dirty="0">
                <a:solidFill>
                  <a:schemeClr val="accent1"/>
                </a:solidFill>
              </a:rPr>
              <a:t>OPTICAL ISL</a:t>
            </a:r>
            <a:endParaRPr lang="en-US" sz="1200" dirty="0"/>
          </a:p>
        </p:txBody>
      </p:sp>
      <p:sp>
        <p:nvSpPr>
          <p:cNvPr id="24" name="text-42"/>
          <p:cNvSpPr txBox="1"/>
          <p:nvPr/>
        </p:nvSpPr>
        <p:spPr>
          <a:xfrm>
            <a:off x="3383280" y="4114800"/>
            <a:ext cx="1828800" cy="274320"/>
          </a:xfrm>
          <a:prstGeom prst="rect">
            <a:avLst/>
          </a:prstGeom>
          <a:noFill/>
          <a:ln/>
        </p:spPr>
        <p:txBody>
          <a:bodyPr wrap="square" lIns="0" tIns="0" rIns="0" bIns="0" rtlCol="0" anchor="t"/>
          <a:lstStyle/>
          <a:p>
            <a:pPr algn="ctr" indent="0" marL="0">
              <a:buNone/>
            </a:pPr>
            <a:r>
              <a:rPr lang="en-US" sz="1200" b="1" spc="100" kern="0" dirty="0">
                <a:solidFill>
                  <a:srgbClr val="6B6B73"/>
                </a:solidFill>
              </a:rPr>
              <a:t>BLOCKED GW</a:t>
            </a:r>
            <a:endParaRPr lang="en-US" sz="1200" dirty="0"/>
          </a:p>
        </p:txBody>
      </p:sp>
      <p:sp>
        <p:nvSpPr>
          <p:cNvPr id="25" name="text-43"/>
          <p:cNvSpPr txBox="1"/>
          <p:nvPr/>
        </p:nvSpPr>
        <p:spPr>
          <a:xfrm>
            <a:off x="7680960" y="4114800"/>
            <a:ext cx="2011680" cy="274320"/>
          </a:xfrm>
          <a:prstGeom prst="rect">
            <a:avLst/>
          </a:prstGeom>
          <a:noFill/>
          <a:ln/>
        </p:spPr>
        <p:txBody>
          <a:bodyPr wrap="square" lIns="0" tIns="0" rIns="0" bIns="0" rtlCol="0" anchor="t"/>
          <a:lstStyle/>
          <a:p>
            <a:pPr algn="ctr" indent="0" marL="0">
              <a:buNone/>
            </a:pPr>
            <a:r>
              <a:rPr lang="en-US" sz="1200" b="1" spc="100" kern="0" dirty="0">
                <a:solidFill>
                  <a:schemeClr val="accent1"/>
                </a:solidFill>
              </a:rPr>
              <a:t>AUTHORISED GW</a:t>
            </a:r>
            <a:endParaRPr lang="en-US" sz="1200" dirty="0"/>
          </a:p>
        </p:txBody>
      </p:sp>
      <p:sp>
        <p:nvSpPr>
          <p:cNvPr id="26" name="text-44"/>
          <p:cNvSpPr txBox="1"/>
          <p:nvPr/>
        </p:nvSpPr>
        <p:spPr>
          <a:xfrm>
            <a:off x="9966960" y="4114800"/>
            <a:ext cx="1828800" cy="274320"/>
          </a:xfrm>
          <a:prstGeom prst="rect">
            <a:avLst/>
          </a:prstGeom>
          <a:noFill/>
          <a:ln/>
        </p:spPr>
        <p:txBody>
          <a:bodyPr wrap="square" lIns="0" tIns="0" rIns="0" bIns="0" rtlCol="0" anchor="t"/>
          <a:lstStyle/>
          <a:p>
            <a:pPr algn="ctr" indent="0" marL="0">
              <a:buNone/>
            </a:pPr>
            <a:r>
              <a:rPr lang="en-US" sz="1200" b="1" spc="100" kern="0" dirty="0">
                <a:solidFill>
                  <a:schemeClr val="bg2"/>
                </a:solidFill>
              </a:rPr>
              <a:t>5G CORE · CLOUD</a:t>
            </a:r>
            <a:endParaRPr lang="en-US" sz="1200" dirty="0"/>
          </a:p>
        </p:txBody>
      </p:sp>
      <p:sp>
        <p:nvSpPr>
          <p:cNvPr id="27" name="card-45"/>
          <p:cNvSpPr/>
          <p:nvPr/>
        </p:nvSpPr>
        <p:spPr>
          <a:xfrm>
            <a:off x="548640" y="4572000"/>
            <a:ext cx="3502152" cy="1554480"/>
          </a:xfrm>
          <a:prstGeom prst="roundRect">
            <a:avLst>
              <a:gd name="adj" fmla="val 7059"/>
            </a:avLst>
          </a:prstGeom>
          <a:solidFill>
            <a:schemeClr val="tx2"/>
          </a:solidFill>
          <a:ln w="9525">
            <a:solidFill>
              <a:srgbClr val="3A3A42"/>
            </a:solidFill>
            <a:prstDash val="solid"/>
          </a:ln>
        </p:spPr>
      </p:sp>
      <p:sp>
        <p:nvSpPr>
          <p:cNvPr id="28" name="node-46"/>
          <p:cNvSpPr/>
          <p:nvPr/>
        </p:nvSpPr>
        <p:spPr>
          <a:xfrm>
            <a:off x="877824" y="4855464"/>
            <a:ext cx="164592" cy="164592"/>
          </a:xfrm>
          <a:prstGeom prst="ellipse">
            <a:avLst/>
          </a:prstGeom>
          <a:solidFill>
            <a:schemeClr val="accent3"/>
          </a:solidFill>
          <a:ln w="6350">
            <a:solidFill>
              <a:schemeClr val="accent3"/>
            </a:solidFill>
            <a:prstDash val="solid"/>
          </a:ln>
        </p:spPr>
      </p:sp>
      <p:sp>
        <p:nvSpPr>
          <p:cNvPr id="29" name="text-47"/>
          <p:cNvSpPr txBox="1"/>
          <p:nvPr/>
        </p:nvSpPr>
        <p:spPr>
          <a:xfrm>
            <a:off x="1143000" y="4791456"/>
            <a:ext cx="2286000" cy="292608"/>
          </a:xfrm>
          <a:prstGeom prst="rect">
            <a:avLst/>
          </a:prstGeom>
          <a:noFill/>
          <a:ln/>
        </p:spPr>
        <p:txBody>
          <a:bodyPr wrap="square" lIns="0" tIns="0" rIns="0" bIns="0" rtlCol="0" anchor="t"/>
          <a:lstStyle/>
          <a:p>
            <a:pPr indent="0" marL="0">
              <a:buNone/>
            </a:pPr>
            <a:r>
              <a:rPr lang="en-US" sz="1400" b="1" spc="200" kern="0" dirty="0">
                <a:solidFill>
                  <a:schemeClr val="accent3"/>
                </a:solidFill>
              </a:rPr>
              <a:t>CRITICAL</a:t>
            </a:r>
            <a:endParaRPr lang="en-US" sz="1400" dirty="0"/>
          </a:p>
        </p:txBody>
      </p:sp>
      <p:sp>
        <p:nvSpPr>
          <p:cNvPr id="30" name="text-48"/>
          <p:cNvSpPr txBox="1"/>
          <p:nvPr/>
        </p:nvSpPr>
        <p:spPr>
          <a:xfrm>
            <a:off x="822960" y="5212080"/>
            <a:ext cx="2953512" cy="914400"/>
          </a:xfrm>
          <a:prstGeom prst="rect">
            <a:avLst/>
          </a:prstGeom>
          <a:noFill/>
          <a:ln/>
        </p:spPr>
        <p:txBody>
          <a:bodyPr wrap="square" lIns="0" tIns="0" rIns="0" bIns="0" rtlCol="0" anchor="t"/>
          <a:lstStyle/>
          <a:p>
            <a:pPr indent="0" marL="0">
              <a:buNone/>
            </a:pPr>
            <a:r>
              <a:rPr lang="en-US" sz="1400" dirty="0">
                <a:solidFill>
                  <a:schemeClr val="bg2"/>
                </a:solidFill>
              </a:rPr>
              <a:t>Alarms and shutdown commands. First uplink slot, first authorised path, this pass.</a:t>
            </a:r>
            <a:endParaRPr lang="en-US" sz="1400" dirty="0"/>
          </a:p>
        </p:txBody>
      </p:sp>
      <p:sp>
        <p:nvSpPr>
          <p:cNvPr id="31" name="card-49"/>
          <p:cNvSpPr/>
          <p:nvPr/>
        </p:nvSpPr>
        <p:spPr>
          <a:xfrm>
            <a:off x="4325112" y="4572000"/>
            <a:ext cx="3502152" cy="1554480"/>
          </a:xfrm>
          <a:prstGeom prst="roundRect">
            <a:avLst>
              <a:gd name="adj" fmla="val 7059"/>
            </a:avLst>
          </a:prstGeom>
          <a:solidFill>
            <a:schemeClr val="tx2"/>
          </a:solidFill>
          <a:ln w="9525">
            <a:solidFill>
              <a:srgbClr val="3A3A42"/>
            </a:solidFill>
            <a:prstDash val="solid"/>
          </a:ln>
        </p:spPr>
      </p:sp>
      <p:sp>
        <p:nvSpPr>
          <p:cNvPr id="32" name="node-50"/>
          <p:cNvSpPr/>
          <p:nvPr/>
        </p:nvSpPr>
        <p:spPr>
          <a:xfrm>
            <a:off x="4654296" y="4855464"/>
            <a:ext cx="164592" cy="164592"/>
          </a:xfrm>
          <a:prstGeom prst="ellipse">
            <a:avLst/>
          </a:prstGeom>
          <a:solidFill>
            <a:schemeClr val="accent1"/>
          </a:solidFill>
          <a:ln w="6350">
            <a:solidFill>
              <a:schemeClr val="accent1"/>
            </a:solidFill>
            <a:prstDash val="solid"/>
          </a:ln>
        </p:spPr>
      </p:sp>
      <p:sp>
        <p:nvSpPr>
          <p:cNvPr id="33" name="text-51"/>
          <p:cNvSpPr txBox="1"/>
          <p:nvPr/>
        </p:nvSpPr>
        <p:spPr>
          <a:xfrm>
            <a:off x="4919472" y="4791456"/>
            <a:ext cx="2286000" cy="292608"/>
          </a:xfrm>
          <a:prstGeom prst="rect">
            <a:avLst/>
          </a:prstGeom>
          <a:noFill/>
          <a:ln/>
        </p:spPr>
        <p:txBody>
          <a:bodyPr wrap="square" lIns="0" tIns="0" rIns="0" bIns="0" rtlCol="0" anchor="t"/>
          <a:lstStyle/>
          <a:p>
            <a:pPr indent="0" marL="0">
              <a:buNone/>
            </a:pPr>
            <a:r>
              <a:rPr lang="en-US" sz="1400" b="1" spc="200" kern="0" dirty="0">
                <a:solidFill>
                  <a:schemeClr val="accent1"/>
                </a:solidFill>
              </a:rPr>
              <a:t>REGULAR</a:t>
            </a:r>
            <a:endParaRPr lang="en-US" sz="1400" dirty="0"/>
          </a:p>
        </p:txBody>
      </p:sp>
      <p:sp>
        <p:nvSpPr>
          <p:cNvPr id="34" name="text-52"/>
          <p:cNvSpPr txBox="1"/>
          <p:nvPr/>
        </p:nvSpPr>
        <p:spPr>
          <a:xfrm>
            <a:off x="4599432" y="5212080"/>
            <a:ext cx="2953512" cy="914400"/>
          </a:xfrm>
          <a:prstGeom prst="rect">
            <a:avLst/>
          </a:prstGeom>
          <a:noFill/>
          <a:ln/>
        </p:spPr>
        <p:txBody>
          <a:bodyPr wrap="square" lIns="0" tIns="0" rIns="0" bIns="0" rtlCol="0" anchor="t"/>
          <a:lstStyle/>
          <a:p>
            <a:pPr indent="0" marL="0">
              <a:buNone/>
            </a:pPr>
            <a:r>
              <a:rPr lang="en-US" sz="1400" dirty="0">
                <a:solidFill>
                  <a:schemeClr val="bg2"/>
                </a:solidFill>
              </a:rPr>
              <a:t>Telemetry, logs, files. Queued onboard and store-and-forwarded on a later pass (≤ 90 min).</a:t>
            </a:r>
            <a:endParaRPr lang="en-US" sz="1400" dirty="0"/>
          </a:p>
        </p:txBody>
      </p:sp>
      <p:sp>
        <p:nvSpPr>
          <p:cNvPr id="35" name="card-53"/>
          <p:cNvSpPr/>
          <p:nvPr/>
        </p:nvSpPr>
        <p:spPr>
          <a:xfrm>
            <a:off x="8101584" y="4572000"/>
            <a:ext cx="3502152" cy="1554480"/>
          </a:xfrm>
          <a:prstGeom prst="roundRect">
            <a:avLst>
              <a:gd name="adj" fmla="val 7059"/>
            </a:avLst>
          </a:prstGeom>
          <a:solidFill>
            <a:schemeClr val="tx2"/>
          </a:solidFill>
          <a:ln w="9525">
            <a:solidFill>
              <a:srgbClr val="3A3A42"/>
            </a:solidFill>
            <a:prstDash val="solid"/>
          </a:ln>
        </p:spPr>
      </p:sp>
      <p:sp>
        <p:nvSpPr>
          <p:cNvPr id="36" name="node-54"/>
          <p:cNvSpPr/>
          <p:nvPr/>
        </p:nvSpPr>
        <p:spPr>
          <a:xfrm>
            <a:off x="8430768" y="4855464"/>
            <a:ext cx="164592" cy="164592"/>
          </a:xfrm>
          <a:prstGeom prst="ellipse">
            <a:avLst/>
          </a:prstGeom>
          <a:solidFill>
            <a:schemeClr val="accent5"/>
          </a:solidFill>
          <a:ln w="6350">
            <a:solidFill>
              <a:schemeClr val="accent5"/>
            </a:solidFill>
            <a:prstDash val="solid"/>
          </a:ln>
        </p:spPr>
      </p:sp>
      <p:sp>
        <p:nvSpPr>
          <p:cNvPr id="37" name="text-55"/>
          <p:cNvSpPr txBox="1"/>
          <p:nvPr/>
        </p:nvSpPr>
        <p:spPr>
          <a:xfrm>
            <a:off x="8695944" y="4791456"/>
            <a:ext cx="2286000" cy="292608"/>
          </a:xfrm>
          <a:prstGeom prst="rect">
            <a:avLst/>
          </a:prstGeom>
          <a:noFill/>
          <a:ln/>
        </p:spPr>
        <p:txBody>
          <a:bodyPr wrap="square" lIns="0" tIns="0" rIns="0" bIns="0" rtlCol="0" anchor="t"/>
          <a:lstStyle/>
          <a:p>
            <a:pPr indent="0" marL="0">
              <a:buNone/>
            </a:pPr>
            <a:r>
              <a:rPr lang="en-US" sz="1400" b="1" spc="200" kern="0" dirty="0">
                <a:solidFill>
                  <a:schemeClr val="accent5"/>
                </a:solidFill>
              </a:rPr>
              <a:t>METADATA</a:t>
            </a:r>
            <a:endParaRPr lang="en-US" sz="1400" dirty="0"/>
          </a:p>
        </p:txBody>
      </p:sp>
      <p:sp>
        <p:nvSpPr>
          <p:cNvPr id="38" name="text-56"/>
          <p:cNvSpPr txBox="1"/>
          <p:nvPr/>
        </p:nvSpPr>
        <p:spPr>
          <a:xfrm>
            <a:off x="8375904" y="5212080"/>
            <a:ext cx="2953512" cy="914400"/>
          </a:xfrm>
          <a:prstGeom prst="rect">
            <a:avLst/>
          </a:prstGeom>
          <a:noFill/>
          <a:ln/>
        </p:spPr>
        <p:txBody>
          <a:bodyPr wrap="square" lIns="0" tIns="0" rIns="0" bIns="0" rtlCol="0" anchor="t"/>
          <a:lstStyle/>
          <a:p>
            <a:pPr indent="0" marL="0">
              <a:buNone/>
            </a:pPr>
            <a:r>
              <a:rPr lang="en-US" sz="1400" dirty="0">
                <a:solidFill>
                  <a:schemeClr val="bg2"/>
                </a:solidFill>
              </a:rPr>
              <a:t>Status, position, policy tags. Tells the engine which gateway each asset may use.</a:t>
            </a:r>
            <a:endParaRPr lang="en-US" sz="1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03 · TECHNICAL: ARCHITECTURE</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Regenerative gNB on every satellite, RF + optical mesh</a:t>
            </a:r>
            <a:endParaRPr lang="en-US" sz="3000" dirty="0"/>
          </a:p>
        </p:txBody>
      </p:sp>
      <p:sp>
        <p:nvSpPr>
          <p:cNvPr id="4" name="card-57"/>
          <p:cNvSpPr/>
          <p:nvPr/>
        </p:nvSpPr>
        <p:spPr>
          <a:xfrm>
            <a:off x="548640" y="1783080"/>
            <a:ext cx="2514600" cy="2057400"/>
          </a:xfrm>
          <a:prstGeom prst="roundRect">
            <a:avLst>
              <a:gd name="adj" fmla="val 5333"/>
            </a:avLst>
          </a:prstGeom>
          <a:solidFill>
            <a:schemeClr val="tx2"/>
          </a:solidFill>
          <a:ln w="9525">
            <a:solidFill>
              <a:srgbClr val="3A3A42"/>
            </a:solidFill>
            <a:prstDash val="solid"/>
          </a:ln>
        </p:spPr>
      </p:sp>
      <p:sp>
        <p:nvSpPr>
          <p:cNvPr id="5" name="text-58"/>
          <p:cNvSpPr txBox="1"/>
          <p:nvPr/>
        </p:nvSpPr>
        <p:spPr>
          <a:xfrm>
            <a:off x="822960" y="2148840"/>
            <a:ext cx="1965960" cy="640080"/>
          </a:xfrm>
          <a:prstGeom prst="rect">
            <a:avLst/>
          </a:prstGeom>
          <a:noFill/>
          <a:ln/>
        </p:spPr>
        <p:txBody>
          <a:bodyPr wrap="square" lIns="0" tIns="0" rIns="0" bIns="0" rtlCol="0" anchor="t"/>
          <a:lstStyle/>
          <a:p>
            <a:pPr indent="0" marL="0">
              <a:buNone/>
            </a:pPr>
            <a:r>
              <a:rPr lang="en-US" sz="3400" b="1" dirty="0">
                <a:solidFill>
                  <a:schemeClr val="accent2"/>
                </a:solidFill>
              </a:rPr>
              <a:t>~12 → 30</a:t>
            </a:r>
            <a:endParaRPr lang="en-US" sz="3400" dirty="0"/>
          </a:p>
        </p:txBody>
      </p:sp>
      <p:sp>
        <p:nvSpPr>
          <p:cNvPr id="6" name="text-59"/>
          <p:cNvSpPr txBox="1"/>
          <p:nvPr/>
        </p:nvSpPr>
        <p:spPr>
          <a:xfrm>
            <a:off x="822960" y="2880360"/>
            <a:ext cx="1965960" cy="685800"/>
          </a:xfrm>
          <a:prstGeom prst="rect">
            <a:avLst/>
          </a:prstGeom>
          <a:noFill/>
          <a:ln/>
        </p:spPr>
        <p:txBody>
          <a:bodyPr wrap="square" lIns="0" tIns="0" rIns="0" bIns="0" rtlCol="0" anchor="t"/>
          <a:lstStyle/>
          <a:p>
            <a:pPr indent="0" marL="0">
              <a:buNone/>
            </a:pPr>
            <a:r>
              <a:rPr lang="en-US" sz="1300" dirty="0">
                <a:solidFill>
                  <a:schemeClr val="bg2"/>
                </a:solidFill>
              </a:rPr>
              <a:t>satellites: 10 OQ + 2 ERMIS today, 30 planned</a:t>
            </a:r>
            <a:endParaRPr lang="en-US" sz="1300" dirty="0"/>
          </a:p>
        </p:txBody>
      </p:sp>
      <p:sp>
        <p:nvSpPr>
          <p:cNvPr id="7" name="card-60"/>
          <p:cNvSpPr/>
          <p:nvPr/>
        </p:nvSpPr>
        <p:spPr>
          <a:xfrm>
            <a:off x="3246120" y="1783080"/>
            <a:ext cx="2514600" cy="2057400"/>
          </a:xfrm>
          <a:prstGeom prst="roundRect">
            <a:avLst>
              <a:gd name="adj" fmla="val 5333"/>
            </a:avLst>
          </a:prstGeom>
          <a:solidFill>
            <a:schemeClr val="tx2"/>
          </a:solidFill>
          <a:ln w="9525">
            <a:solidFill>
              <a:srgbClr val="3A3A42"/>
            </a:solidFill>
            <a:prstDash val="solid"/>
          </a:ln>
        </p:spPr>
      </p:sp>
      <p:sp>
        <p:nvSpPr>
          <p:cNvPr id="8" name="text-61"/>
          <p:cNvSpPr txBox="1"/>
          <p:nvPr/>
        </p:nvSpPr>
        <p:spPr>
          <a:xfrm>
            <a:off x="3520440" y="2148840"/>
            <a:ext cx="1965960" cy="640080"/>
          </a:xfrm>
          <a:prstGeom prst="rect">
            <a:avLst/>
          </a:prstGeom>
          <a:noFill/>
          <a:ln/>
        </p:spPr>
        <p:txBody>
          <a:bodyPr wrap="square" lIns="0" tIns="0" rIns="0" bIns="0" rtlCol="0" anchor="t"/>
          <a:lstStyle/>
          <a:p>
            <a:pPr indent="0" marL="0">
              <a:buNone/>
            </a:pPr>
            <a:r>
              <a:rPr lang="en-US" sz="3400" b="1" dirty="0">
                <a:solidFill>
                  <a:schemeClr val="accent2"/>
                </a:solidFill>
              </a:rPr>
              <a:t>3 × 10</a:t>
            </a:r>
            <a:endParaRPr lang="en-US" sz="3400" dirty="0"/>
          </a:p>
        </p:txBody>
      </p:sp>
      <p:sp>
        <p:nvSpPr>
          <p:cNvPr id="9" name="text-62"/>
          <p:cNvSpPr txBox="1"/>
          <p:nvPr/>
        </p:nvSpPr>
        <p:spPr>
          <a:xfrm>
            <a:off x="3520440" y="2880360"/>
            <a:ext cx="1965960" cy="685800"/>
          </a:xfrm>
          <a:prstGeom prst="rect">
            <a:avLst/>
          </a:prstGeom>
          <a:noFill/>
          <a:ln/>
        </p:spPr>
        <p:txBody>
          <a:bodyPr wrap="square" lIns="0" tIns="0" rIns="0" bIns="0" rtlCol="0" anchor="t"/>
          <a:lstStyle/>
          <a:p>
            <a:pPr indent="0" marL="0">
              <a:buNone/>
            </a:pPr>
            <a:r>
              <a:rPr lang="en-US" sz="1300" dirty="0">
                <a:solidFill>
                  <a:schemeClr val="bg2"/>
                </a:solidFill>
              </a:rPr>
              <a:t>planes × satellites at ~500 km altitude</a:t>
            </a:r>
            <a:endParaRPr lang="en-US" sz="1300" dirty="0"/>
          </a:p>
        </p:txBody>
      </p:sp>
      <p:sp>
        <p:nvSpPr>
          <p:cNvPr id="10" name="card-63"/>
          <p:cNvSpPr/>
          <p:nvPr/>
        </p:nvSpPr>
        <p:spPr>
          <a:xfrm>
            <a:off x="548640" y="4023360"/>
            <a:ext cx="2514600" cy="2057400"/>
          </a:xfrm>
          <a:prstGeom prst="roundRect">
            <a:avLst>
              <a:gd name="adj" fmla="val 5333"/>
            </a:avLst>
          </a:prstGeom>
          <a:solidFill>
            <a:schemeClr val="tx2"/>
          </a:solidFill>
          <a:ln w="9525">
            <a:solidFill>
              <a:srgbClr val="3A3A42"/>
            </a:solidFill>
            <a:prstDash val="solid"/>
          </a:ln>
        </p:spPr>
      </p:sp>
      <p:sp>
        <p:nvSpPr>
          <p:cNvPr id="11" name="text-64"/>
          <p:cNvSpPr txBox="1"/>
          <p:nvPr/>
        </p:nvSpPr>
        <p:spPr>
          <a:xfrm>
            <a:off x="822960" y="4389120"/>
            <a:ext cx="1965960" cy="640080"/>
          </a:xfrm>
          <a:prstGeom prst="rect">
            <a:avLst/>
          </a:prstGeom>
          <a:noFill/>
          <a:ln/>
        </p:spPr>
        <p:txBody>
          <a:bodyPr wrap="square" lIns="0" tIns="0" rIns="0" bIns="0" rtlCol="0" anchor="t"/>
          <a:lstStyle/>
          <a:p>
            <a:pPr indent="0" marL="0">
              <a:buNone/>
            </a:pPr>
            <a:r>
              <a:rPr lang="en-US" sz="3400" b="1" dirty="0">
                <a:solidFill>
                  <a:schemeClr val="accent2"/>
                </a:solidFill>
              </a:rPr>
              <a:t>10°</a:t>
            </a:r>
            <a:endParaRPr lang="en-US" sz="3400" dirty="0"/>
          </a:p>
        </p:txBody>
      </p:sp>
      <p:sp>
        <p:nvSpPr>
          <p:cNvPr id="12" name="text-65"/>
          <p:cNvSpPr txBox="1"/>
          <p:nvPr/>
        </p:nvSpPr>
        <p:spPr>
          <a:xfrm>
            <a:off x="822960" y="5120640"/>
            <a:ext cx="1965960" cy="685800"/>
          </a:xfrm>
          <a:prstGeom prst="rect">
            <a:avLst/>
          </a:prstGeom>
          <a:noFill/>
          <a:ln/>
        </p:spPr>
        <p:txBody>
          <a:bodyPr wrap="square" lIns="0" tIns="0" rIns="0" bIns="0" rtlCol="0" anchor="t"/>
          <a:lstStyle/>
          <a:p>
            <a:pPr indent="0" marL="0">
              <a:buNone/>
            </a:pPr>
            <a:r>
              <a:rPr lang="en-US" sz="1300" dirty="0">
                <a:solidFill>
                  <a:schemeClr val="bg2"/>
                </a:solidFill>
              </a:rPr>
              <a:t>minimum elevation, ~3,000 km footprint</a:t>
            </a:r>
            <a:endParaRPr lang="en-US" sz="1300" dirty="0"/>
          </a:p>
        </p:txBody>
      </p:sp>
      <p:sp>
        <p:nvSpPr>
          <p:cNvPr id="13" name="card-66"/>
          <p:cNvSpPr/>
          <p:nvPr/>
        </p:nvSpPr>
        <p:spPr>
          <a:xfrm>
            <a:off x="3246120" y="4023360"/>
            <a:ext cx="2514600" cy="2057400"/>
          </a:xfrm>
          <a:prstGeom prst="roundRect">
            <a:avLst>
              <a:gd name="adj" fmla="val 5333"/>
            </a:avLst>
          </a:prstGeom>
          <a:solidFill>
            <a:schemeClr val="tx2"/>
          </a:solidFill>
          <a:ln w="9525">
            <a:solidFill>
              <a:srgbClr val="3A3A42"/>
            </a:solidFill>
            <a:prstDash val="solid"/>
          </a:ln>
        </p:spPr>
      </p:sp>
      <p:sp>
        <p:nvSpPr>
          <p:cNvPr id="14" name="text-67"/>
          <p:cNvSpPr txBox="1"/>
          <p:nvPr/>
        </p:nvSpPr>
        <p:spPr>
          <a:xfrm>
            <a:off x="3520440" y="4389120"/>
            <a:ext cx="1965960" cy="640080"/>
          </a:xfrm>
          <a:prstGeom prst="rect">
            <a:avLst/>
          </a:prstGeom>
          <a:noFill/>
          <a:ln/>
        </p:spPr>
        <p:txBody>
          <a:bodyPr wrap="square" lIns="0" tIns="0" rIns="0" bIns="0" rtlCol="0" anchor="t"/>
          <a:lstStyle/>
          <a:p>
            <a:pPr indent="0" marL="0">
              <a:buNone/>
            </a:pPr>
            <a:r>
              <a:rPr lang="en-US" sz="3400" b="1" dirty="0">
                <a:solidFill>
                  <a:schemeClr val="accent2"/>
                </a:solidFill>
              </a:rPr>
              <a:t>~6 / yr</a:t>
            </a:r>
            <a:endParaRPr lang="en-US" sz="3400" dirty="0"/>
          </a:p>
        </p:txBody>
      </p:sp>
      <p:sp>
        <p:nvSpPr>
          <p:cNvPr id="15" name="text-68"/>
          <p:cNvSpPr txBox="1"/>
          <p:nvPr/>
        </p:nvSpPr>
        <p:spPr>
          <a:xfrm>
            <a:off x="3520440" y="5120640"/>
            <a:ext cx="1965960" cy="685800"/>
          </a:xfrm>
          <a:prstGeom prst="rect">
            <a:avLst/>
          </a:prstGeom>
          <a:noFill/>
          <a:ln/>
        </p:spPr>
        <p:txBody>
          <a:bodyPr wrap="square" lIns="0" tIns="0" rIns="0" bIns="0" rtlCol="0" anchor="t"/>
          <a:lstStyle/>
          <a:p>
            <a:pPr indent="0" marL="0">
              <a:buNone/>
            </a:pPr>
            <a:r>
              <a:rPr lang="en-US" sz="1300" dirty="0">
                <a:solidFill>
                  <a:schemeClr val="bg2"/>
                </a:solidFill>
              </a:rPr>
              <a:t>replacements at a 5-year design life</a:t>
            </a:r>
            <a:endParaRPr lang="en-US" sz="1300" dirty="0"/>
          </a:p>
        </p:txBody>
      </p:sp>
      <p:sp>
        <p:nvSpPr>
          <p:cNvPr id="16" name="card-69"/>
          <p:cNvSpPr/>
          <p:nvPr/>
        </p:nvSpPr>
        <p:spPr>
          <a:xfrm>
            <a:off x="6172200" y="1783080"/>
            <a:ext cx="5440680" cy="2057400"/>
          </a:xfrm>
          <a:prstGeom prst="roundRect">
            <a:avLst>
              <a:gd name="adj" fmla="val 5333"/>
            </a:avLst>
          </a:prstGeom>
          <a:solidFill>
            <a:schemeClr val="tx2"/>
          </a:solidFill>
          <a:ln w="9525">
            <a:solidFill>
              <a:srgbClr val="3A3A42"/>
            </a:solidFill>
            <a:prstDash val="solid"/>
          </a:ln>
        </p:spPr>
      </p:sp>
      <p:sp>
        <p:nvSpPr>
          <p:cNvPr id="17" name="icon-ring-70"/>
          <p:cNvSpPr/>
          <p:nvPr/>
        </p:nvSpPr>
        <p:spPr>
          <a:xfrm>
            <a:off x="6446520" y="2011680"/>
            <a:ext cx="502920" cy="502920"/>
          </a:xfrm>
          <a:prstGeom prst="ellipse">
            <a:avLst/>
          </a:prstGeom>
          <a:solidFill>
            <a:schemeClr val="tx2"/>
          </a:solidFill>
          <a:ln w="15875">
            <a:solidFill>
              <a:schemeClr val="accent1"/>
            </a:solidFill>
            <a:prstDash val="solid"/>
          </a:ln>
        </p:spPr>
      </p:sp>
      <p:pic>
        <p:nvPicPr>
          <p:cNvPr id="18" name="icon-71" descr="preencoded.png">    </p:cNvPr>
          <p:cNvPicPr>
            <a:picLocks noChangeAspect="1"/>
          </p:cNvPicPr>
          <p:nvPr/>
        </p:nvPicPr>
        <p:blipFill>
          <a:blip r:embed="rId1"/>
          <a:stretch>
            <a:fillRect/>
          </a:stretch>
        </p:blipFill>
        <p:spPr>
          <a:xfrm>
            <a:off x="6557162" y="2122322"/>
            <a:ext cx="281635" cy="281635"/>
          </a:xfrm>
          <a:prstGeom prst="rect">
            <a:avLst/>
          </a:prstGeom>
        </p:spPr>
      </p:pic>
      <p:sp>
        <p:nvSpPr>
          <p:cNvPr id="19" name="text-72"/>
          <p:cNvSpPr txBox="1"/>
          <p:nvPr/>
        </p:nvSpPr>
        <p:spPr>
          <a:xfrm>
            <a:off x="7132320" y="2057400"/>
            <a:ext cx="4251960" cy="411480"/>
          </a:xfrm>
          <a:prstGeom prst="rect">
            <a:avLst/>
          </a:prstGeom>
          <a:noFill/>
          <a:ln/>
        </p:spPr>
        <p:txBody>
          <a:bodyPr wrap="square" lIns="0" tIns="0" rIns="0" bIns="0" rtlCol="0" anchor="ctr"/>
          <a:lstStyle/>
          <a:p>
            <a:pPr indent="0" marL="0">
              <a:buNone/>
            </a:pPr>
            <a:r>
              <a:rPr lang="en-US" sz="1800" b="1" dirty="0">
                <a:solidFill>
                  <a:schemeClr val="bg1"/>
                </a:solidFill>
              </a:rPr>
              <a:t>Payload: full regenerative gNB</a:t>
            </a:r>
            <a:endParaRPr lang="en-US" sz="1800" dirty="0"/>
          </a:p>
        </p:txBody>
      </p:sp>
      <p:sp>
        <p:nvSpPr>
          <p:cNvPr id="20" name="text-73"/>
          <p:cNvSpPr txBox="1"/>
          <p:nvPr/>
        </p:nvSpPr>
        <p:spPr>
          <a:xfrm>
            <a:off x="6446520" y="2651760"/>
            <a:ext cx="4892040" cy="1097280"/>
          </a:xfrm>
          <a:prstGeom prst="rect">
            <a:avLst/>
          </a:prstGeom>
          <a:noFill/>
          <a:ln/>
        </p:spPr>
        <p:txBody>
          <a:bodyPr wrap="square" lIns="0" tIns="0" rIns="0" bIns="0" rtlCol="0" anchor="t"/>
          <a:lstStyle/>
          <a:p>
            <a:pPr indent="0" marL="0">
              <a:buNone/>
            </a:pPr>
            <a:r>
              <a:rPr lang="en-US" sz="1300" b="1" dirty="0">
                <a:solidFill>
                  <a:schemeClr val="bg1"/>
                </a:solidFill>
              </a:rPr>
              <a:t>Bent-pipe: </a:t>
            </a:r>
            <a:pPr indent="0" marL="0">
              <a:spcAft>
                <a:spcPts val="400"/>
              </a:spcAft>
              <a:buNone/>
            </a:pPr>
            <a:r>
              <a:rPr lang="en-US" sz="1300" dirty="0">
                <a:solidFill>
                  <a:schemeClr val="bg2"/>
                </a:solidFill>
              </a:rPr>
              <a:t>needs a gateway in view; can't serve open ocean</a:t>
            </a:r>
            <a:endParaRPr lang="en-US" sz="1300" dirty="0"/>
          </a:p>
          <a:p>
            <a:pPr indent="0" marL="0">
              <a:buNone/>
            </a:pPr>
            <a:r>
              <a:rPr lang="en-US" sz="1300" b="1" dirty="0">
                <a:solidFill>
                  <a:schemeClr val="bg1"/>
                </a:solidFill>
              </a:rPr>
              <a:t>Split gNB (2 / 7.2x): </a:t>
            </a:r>
            <a:pPr indent="0" marL="0">
              <a:spcAft>
                <a:spcPts val="400"/>
              </a:spcAft>
              <a:buNone/>
            </a:pPr>
            <a:r>
              <a:rPr lang="en-US" sz="1300" dirty="0">
                <a:solidFill>
                  <a:schemeClr val="bg2"/>
                </a:solidFill>
              </a:rPr>
              <a:t>RRC still round-trips the feeder</a:t>
            </a:r>
            <a:endParaRPr lang="en-US" sz="1300" dirty="0"/>
          </a:p>
          <a:p>
            <a:pPr indent="0" marL="0">
              <a:buNone/>
            </a:pPr>
            <a:r>
              <a:rPr lang="en-US" sz="1300" b="1" dirty="0">
                <a:solidFill>
                  <a:schemeClr val="bg1"/>
                </a:solidFill>
              </a:rPr>
              <a:t>SWaP fix: </a:t>
            </a:r>
            <a:pPr indent="0" marL="0">
              <a:spcAft>
                <a:spcPts val="400"/>
              </a:spcAft>
              <a:buNone/>
            </a:pPr>
            <a:r>
              <a:rPr lang="en-US" sz="1300" dirty="0">
                <a:solidFill>
                  <a:schemeClr val="bg2"/>
                </a:solidFill>
              </a:rPr>
              <a:t>narrowband gNB, duty-cycling, rad-hard supervisor</a:t>
            </a:r>
            <a:endParaRPr lang="en-US" sz="1300" dirty="0"/>
          </a:p>
        </p:txBody>
      </p:sp>
      <p:sp>
        <p:nvSpPr>
          <p:cNvPr id="21" name="card-74"/>
          <p:cNvSpPr/>
          <p:nvPr/>
        </p:nvSpPr>
        <p:spPr>
          <a:xfrm>
            <a:off x="6172200" y="4023360"/>
            <a:ext cx="5440680" cy="2057400"/>
          </a:xfrm>
          <a:prstGeom prst="roundRect">
            <a:avLst>
              <a:gd name="adj" fmla="val 5333"/>
            </a:avLst>
          </a:prstGeom>
          <a:solidFill>
            <a:schemeClr val="tx2"/>
          </a:solidFill>
          <a:ln w="9525">
            <a:solidFill>
              <a:srgbClr val="3A3A42"/>
            </a:solidFill>
            <a:prstDash val="solid"/>
          </a:ln>
        </p:spPr>
      </p:sp>
      <p:sp>
        <p:nvSpPr>
          <p:cNvPr id="22" name="icon-ring-75"/>
          <p:cNvSpPr/>
          <p:nvPr/>
        </p:nvSpPr>
        <p:spPr>
          <a:xfrm>
            <a:off x="6446520" y="4251960"/>
            <a:ext cx="502920" cy="502920"/>
          </a:xfrm>
          <a:prstGeom prst="ellipse">
            <a:avLst/>
          </a:prstGeom>
          <a:solidFill>
            <a:schemeClr val="tx2"/>
          </a:solidFill>
          <a:ln w="15875">
            <a:solidFill>
              <a:schemeClr val="accent1"/>
            </a:solidFill>
            <a:prstDash val="solid"/>
          </a:ln>
        </p:spPr>
      </p:sp>
      <p:pic>
        <p:nvPicPr>
          <p:cNvPr id="23" name="icon-76" descr="preencoded.png">    </p:cNvPr>
          <p:cNvPicPr>
            <a:picLocks noChangeAspect="1"/>
          </p:cNvPicPr>
          <p:nvPr/>
        </p:nvPicPr>
        <p:blipFill>
          <a:blip r:embed="rId2"/>
          <a:stretch>
            <a:fillRect/>
          </a:stretch>
        </p:blipFill>
        <p:spPr>
          <a:xfrm>
            <a:off x="6557162" y="4362602"/>
            <a:ext cx="281635" cy="281635"/>
          </a:xfrm>
          <a:prstGeom prst="rect">
            <a:avLst/>
          </a:prstGeom>
        </p:spPr>
      </p:pic>
      <p:sp>
        <p:nvSpPr>
          <p:cNvPr id="24" name="text-77"/>
          <p:cNvSpPr txBox="1"/>
          <p:nvPr/>
        </p:nvSpPr>
        <p:spPr>
          <a:xfrm>
            <a:off x="7132320" y="4297680"/>
            <a:ext cx="4251960" cy="411480"/>
          </a:xfrm>
          <a:prstGeom prst="rect">
            <a:avLst/>
          </a:prstGeom>
          <a:noFill/>
          <a:ln/>
        </p:spPr>
        <p:txBody>
          <a:bodyPr wrap="square" lIns="0" tIns="0" rIns="0" bIns="0" rtlCol="0" anchor="ctr"/>
          <a:lstStyle/>
          <a:p>
            <a:pPr indent="0" marL="0">
              <a:buNone/>
            </a:pPr>
            <a:r>
              <a:rPr lang="en-US" sz="1800" b="1" dirty="0">
                <a:solidFill>
                  <a:schemeClr val="bg1"/>
                </a:solidFill>
              </a:rPr>
              <a:t>ISL: RF in-plane, optical cross-plane</a:t>
            </a:r>
            <a:endParaRPr lang="en-US" sz="1800" dirty="0"/>
          </a:p>
        </p:txBody>
      </p:sp>
      <p:sp>
        <p:nvSpPr>
          <p:cNvPr id="25" name="text-78"/>
          <p:cNvSpPr txBox="1"/>
          <p:nvPr/>
        </p:nvSpPr>
        <p:spPr>
          <a:xfrm>
            <a:off x="6446520" y="4892040"/>
            <a:ext cx="4892040" cy="1097280"/>
          </a:xfrm>
          <a:prstGeom prst="rect">
            <a:avLst/>
          </a:prstGeom>
          <a:noFill/>
          <a:ln/>
        </p:spPr>
        <p:txBody>
          <a:bodyPr wrap="square" lIns="0" tIns="0" rIns="0" bIns="0" rtlCol="0" anchor="t"/>
          <a:lstStyle/>
          <a:p>
            <a:pPr indent="0" marL="0">
              <a:buNone/>
            </a:pPr>
            <a:r>
              <a:rPr lang="en-US" sz="1300" b="1" dirty="0">
                <a:solidFill>
                  <a:schemeClr val="bg1"/>
                </a:solidFill>
              </a:rPr>
              <a:t>RF, every satellite: </a:t>
            </a:r>
            <a:pPr indent="0" marL="0">
              <a:spcAft>
                <a:spcPts val="400"/>
              </a:spcAft>
              <a:buNone/>
            </a:pPr>
            <a:r>
              <a:rPr lang="en-US" sz="1300" dirty="0">
                <a:solidFill>
                  <a:schemeClr val="bg2"/>
                </a:solidFill>
              </a:rPr>
              <a:t>static in-plane geometry, proven by Iridium</a:t>
            </a:r>
            <a:endParaRPr lang="en-US" sz="1300" dirty="0"/>
          </a:p>
          <a:p>
            <a:pPr indent="0" marL="0">
              <a:buNone/>
            </a:pPr>
            <a:r>
              <a:rPr lang="en-US" sz="1300" b="1" dirty="0">
                <a:solidFill>
                  <a:schemeClr val="bg1"/>
                </a:solidFill>
              </a:rPr>
              <a:t>Optical, relay subset: </a:t>
            </a:r>
            <a:pPr indent="0" marL="0">
              <a:spcAft>
                <a:spcPts val="400"/>
              </a:spcAft>
              <a:buNone/>
            </a:pPr>
            <a:r>
              <a:rPr lang="en-US" sz="1300" dirty="0">
                <a:solidFill>
                  <a:schemeClr val="bg2"/>
                </a:solidFill>
              </a:rPr>
              <a:t>no licence, EU suppliers, no ITAR</a:t>
            </a:r>
            <a:endParaRPr lang="en-US" sz="1300" dirty="0"/>
          </a:p>
          <a:p>
            <a:pPr indent="0" marL="0">
              <a:buNone/>
            </a:pPr>
            <a:r>
              <a:rPr lang="en-US" sz="1300" b="1" dirty="0">
                <a:solidFill>
                  <a:schemeClr val="bg1"/>
                </a:solidFill>
              </a:rPr>
              <a:t>Not all-optical: </a:t>
            </a:r>
            <a:pPr indent="0" marL="0">
              <a:spcAft>
                <a:spcPts val="400"/>
              </a:spcAft>
              <a:buNone/>
            </a:pPr>
            <a:r>
              <a:rPr lang="en-US" sz="1300" dirty="0">
                <a:solidFill>
                  <a:schemeClr val="bg2"/>
                </a:solidFill>
              </a:rPr>
              <a:t>IoT needs only single-digit Mbps per sat</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04 · TECHNICAL: LATENCY</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ISL keeps alarms at ~100 ms even with a gateway down</a:t>
            </a:r>
            <a:endParaRPr lang="en-US" sz="3000" dirty="0"/>
          </a:p>
        </p:txBody>
      </p:sp>
      <p:sp>
        <p:nvSpPr>
          <p:cNvPr id="4" name="card-79"/>
          <p:cNvSpPr/>
          <p:nvPr/>
        </p:nvSpPr>
        <p:spPr>
          <a:xfrm>
            <a:off x="548640" y="1783080"/>
            <a:ext cx="6675120" cy="4297680"/>
          </a:xfrm>
          <a:prstGeom prst="roundRect">
            <a:avLst>
              <a:gd name="adj" fmla="val 2553"/>
            </a:avLst>
          </a:prstGeom>
          <a:solidFill>
            <a:schemeClr val="tx2"/>
          </a:solidFill>
          <a:ln w="9525">
            <a:solidFill>
              <a:srgbClr val="3A3A42"/>
            </a:solidFill>
            <a:prstDash val="solid"/>
          </a:ln>
        </p:spPr>
      </p:sp>
      <p:graphicFrame>
        <p:nvGraphicFramePr>
          <p:cNvPr id="5" name="latency-chart" descr=""/>
          <p:cNvGraphicFramePr/>
          <p:nvPr/>
        </p:nvGraphicFramePr>
        <p:xfrm>
          <a:off x="731520" y="1920240"/>
          <a:ext cx="6309360" cy="4023360"/>
        </p:xfrm>
        <a:graphic xmlns:a="http://schemas.openxmlformats.org/drawingml/2006/main">
          <a:graphicData uri="http://schemas.openxmlformats.org/drawingml/2006/chart">
            <c:chart xmlns:c="http://schemas.openxmlformats.org/drawingml/2006/chart" r:id="rId1"/>
          </a:graphicData>
        </a:graphic>
      </p:graphicFrame>
      <p:sp>
        <p:nvSpPr>
          <p:cNvPr id="6" name="card-80"/>
          <p:cNvSpPr/>
          <p:nvPr/>
        </p:nvSpPr>
        <p:spPr>
          <a:xfrm>
            <a:off x="7498080" y="1783080"/>
            <a:ext cx="4114800" cy="1234440"/>
          </a:xfrm>
          <a:prstGeom prst="roundRect">
            <a:avLst>
              <a:gd name="adj" fmla="val 8889"/>
            </a:avLst>
          </a:prstGeom>
          <a:solidFill>
            <a:schemeClr val="tx2"/>
          </a:solidFill>
          <a:ln w="9525">
            <a:solidFill>
              <a:srgbClr val="3A3A42"/>
            </a:solidFill>
            <a:prstDash val="solid"/>
          </a:ln>
        </p:spPr>
      </p:sp>
      <p:sp>
        <p:nvSpPr>
          <p:cNvPr id="7" name="text-81"/>
          <p:cNvSpPr txBox="1"/>
          <p:nvPr/>
        </p:nvSpPr>
        <p:spPr>
          <a:xfrm>
            <a:off x="7772400" y="1920240"/>
            <a:ext cx="3566160" cy="548640"/>
          </a:xfrm>
          <a:prstGeom prst="rect">
            <a:avLst/>
          </a:prstGeom>
          <a:noFill/>
          <a:ln/>
        </p:spPr>
        <p:txBody>
          <a:bodyPr wrap="square" lIns="0" tIns="0" rIns="0" bIns="0" rtlCol="0" anchor="t"/>
          <a:lstStyle/>
          <a:p>
            <a:pPr indent="0" marL="0">
              <a:buNone/>
            </a:pPr>
            <a:r>
              <a:rPr lang="en-US" sz="3200" b="1" dirty="0">
                <a:solidFill>
                  <a:schemeClr val="accent1"/>
                </a:solidFill>
              </a:rPr>
              <a:t>~85 ms</a:t>
            </a:r>
            <a:endParaRPr lang="en-US" sz="3200" dirty="0"/>
          </a:p>
        </p:txBody>
      </p:sp>
      <p:sp>
        <p:nvSpPr>
          <p:cNvPr id="8" name="text-82"/>
          <p:cNvSpPr txBox="1"/>
          <p:nvPr/>
        </p:nvSpPr>
        <p:spPr>
          <a:xfrm>
            <a:off x="7772400" y="2468880"/>
            <a:ext cx="3566160" cy="502920"/>
          </a:xfrm>
          <a:prstGeom prst="rect">
            <a:avLst/>
          </a:prstGeom>
          <a:noFill/>
          <a:ln/>
        </p:spPr>
        <p:txBody>
          <a:bodyPr wrap="square" lIns="0" tIns="0" rIns="0" bIns="0" rtlCol="0" anchor="t"/>
          <a:lstStyle/>
          <a:p>
            <a:pPr indent="0" marL="0">
              <a:buNone/>
            </a:pPr>
            <a:r>
              <a:rPr lang="en-US" sz="1200" dirty="0">
                <a:solidFill>
                  <a:schemeClr val="bg2"/>
                </a:solidFill>
              </a:rPr>
              <a:t>live alarm, platform → Frankfurt cloud (30 sats, all gateways up)</a:t>
            </a:r>
            <a:endParaRPr lang="en-US" sz="1200" dirty="0"/>
          </a:p>
        </p:txBody>
      </p:sp>
      <p:sp>
        <p:nvSpPr>
          <p:cNvPr id="9" name="card-83"/>
          <p:cNvSpPr/>
          <p:nvPr/>
        </p:nvSpPr>
        <p:spPr>
          <a:xfrm>
            <a:off x="7498080" y="3200400"/>
            <a:ext cx="4114800" cy="1234440"/>
          </a:xfrm>
          <a:prstGeom prst="roundRect">
            <a:avLst>
              <a:gd name="adj" fmla="val 8889"/>
            </a:avLst>
          </a:prstGeom>
          <a:solidFill>
            <a:schemeClr val="tx2"/>
          </a:solidFill>
          <a:ln w="9525">
            <a:solidFill>
              <a:srgbClr val="3A3A42"/>
            </a:solidFill>
            <a:prstDash val="solid"/>
          </a:ln>
        </p:spPr>
      </p:sp>
      <p:sp>
        <p:nvSpPr>
          <p:cNvPr id="10" name="text-84"/>
          <p:cNvSpPr txBox="1"/>
          <p:nvPr/>
        </p:nvSpPr>
        <p:spPr>
          <a:xfrm>
            <a:off x="7772400" y="3337560"/>
            <a:ext cx="3566160" cy="548640"/>
          </a:xfrm>
          <a:prstGeom prst="rect">
            <a:avLst/>
          </a:prstGeom>
          <a:noFill/>
          <a:ln/>
        </p:spPr>
        <p:txBody>
          <a:bodyPr wrap="square" lIns="0" tIns="0" rIns="0" bIns="0" rtlCol="0" anchor="t"/>
          <a:lstStyle/>
          <a:p>
            <a:pPr indent="0" marL="0">
              <a:buNone/>
            </a:pPr>
            <a:r>
              <a:rPr lang="en-US" sz="3200" b="1" dirty="0">
                <a:solidFill>
                  <a:schemeClr val="accent2"/>
                </a:solidFill>
              </a:rPr>
              <a:t>75–110 ms</a:t>
            </a:r>
            <a:endParaRPr lang="en-US" sz="3200" dirty="0"/>
          </a:p>
        </p:txBody>
      </p:sp>
      <p:sp>
        <p:nvSpPr>
          <p:cNvPr id="11" name="text-85"/>
          <p:cNvSpPr txBox="1"/>
          <p:nvPr/>
        </p:nvSpPr>
        <p:spPr>
          <a:xfrm>
            <a:off x="7772400" y="3886200"/>
            <a:ext cx="3566160" cy="502920"/>
          </a:xfrm>
          <a:prstGeom prst="rect">
            <a:avLst/>
          </a:prstGeom>
          <a:noFill/>
          <a:ln/>
        </p:spPr>
        <p:txBody>
          <a:bodyPr wrap="square" lIns="0" tIns="0" rIns="0" bIns="0" rtlCol="0" anchor="t"/>
          <a:lstStyle/>
          <a:p>
            <a:pPr indent="0" marL="0">
              <a:buNone/>
            </a:pPr>
            <a:r>
              <a:rPr lang="en-US" sz="1200" dirty="0">
                <a:solidFill>
                  <a:schemeClr val="bg2"/>
                </a:solidFill>
              </a:rPr>
              <a:t>mid-Atlantic platform → Frankfurt over the ISL mesh; bent-pipe: no service</a:t>
            </a:r>
            <a:endParaRPr lang="en-US" sz="1200" dirty="0"/>
          </a:p>
        </p:txBody>
      </p:sp>
      <p:sp>
        <p:nvSpPr>
          <p:cNvPr id="12" name="card-86"/>
          <p:cNvSpPr/>
          <p:nvPr/>
        </p:nvSpPr>
        <p:spPr>
          <a:xfrm>
            <a:off x="7498080" y="4617720"/>
            <a:ext cx="4114800" cy="1463040"/>
          </a:xfrm>
          <a:prstGeom prst="roundRect">
            <a:avLst>
              <a:gd name="adj" fmla="val 7500"/>
            </a:avLst>
          </a:prstGeom>
          <a:solidFill>
            <a:schemeClr val="tx2"/>
          </a:solidFill>
          <a:ln w="9525">
            <a:solidFill>
              <a:srgbClr val="3A3A42"/>
            </a:solidFill>
            <a:prstDash val="solid"/>
          </a:ln>
        </p:spPr>
      </p:sp>
      <p:sp>
        <p:nvSpPr>
          <p:cNvPr id="13" name="text-87"/>
          <p:cNvSpPr txBox="1"/>
          <p:nvPr/>
        </p:nvSpPr>
        <p:spPr>
          <a:xfrm>
            <a:off x="7772400" y="4754880"/>
            <a:ext cx="3566160" cy="274320"/>
          </a:xfrm>
          <a:prstGeom prst="rect">
            <a:avLst/>
          </a:prstGeom>
          <a:noFill/>
          <a:ln/>
        </p:spPr>
        <p:txBody>
          <a:bodyPr wrap="square" lIns="0" tIns="0" rIns="0" bIns="0" rtlCol="0" anchor="t"/>
          <a:lstStyle/>
          <a:p>
            <a:pPr indent="0" marL="0">
              <a:buNone/>
            </a:pPr>
            <a:r>
              <a:rPr lang="en-US" sz="1200" b="1" spc="200" kern="0" dirty="0">
                <a:solidFill>
                  <a:schemeClr val="bg2"/>
                </a:solidFill>
              </a:rPr>
              <a:t>SERVICE TIERS</a:t>
            </a:r>
            <a:endParaRPr lang="en-US" sz="1200" dirty="0"/>
          </a:p>
        </p:txBody>
      </p:sp>
      <p:sp>
        <p:nvSpPr>
          <p:cNvPr id="14" name="node-88"/>
          <p:cNvSpPr/>
          <p:nvPr/>
        </p:nvSpPr>
        <p:spPr>
          <a:xfrm>
            <a:off x="7808976" y="5148072"/>
            <a:ext cx="109728" cy="109728"/>
          </a:xfrm>
          <a:prstGeom prst="ellipse">
            <a:avLst/>
          </a:prstGeom>
          <a:solidFill>
            <a:schemeClr val="accent1"/>
          </a:solidFill>
          <a:ln w="6350">
            <a:solidFill>
              <a:schemeClr val="accent1"/>
            </a:solidFill>
            <a:prstDash val="solid"/>
          </a:ln>
        </p:spPr>
      </p:sp>
      <p:sp>
        <p:nvSpPr>
          <p:cNvPr id="15" name="text-89"/>
          <p:cNvSpPr txBox="1"/>
          <p:nvPr/>
        </p:nvSpPr>
        <p:spPr>
          <a:xfrm>
            <a:off x="8046720" y="5074920"/>
            <a:ext cx="2103120" cy="274320"/>
          </a:xfrm>
          <a:prstGeom prst="rect">
            <a:avLst/>
          </a:prstGeom>
          <a:noFill/>
          <a:ln/>
        </p:spPr>
        <p:txBody>
          <a:bodyPr wrap="square" lIns="0" tIns="0" rIns="0" bIns="0" rtlCol="0" anchor="ctr"/>
          <a:lstStyle/>
          <a:p>
            <a:pPr indent="0" marL="0">
              <a:buNone/>
            </a:pPr>
            <a:r>
              <a:rPr lang="en-US" sz="1400" dirty="0">
                <a:solidFill>
                  <a:schemeClr val="bg1"/>
                </a:solidFill>
              </a:rPr>
              <a:t>Continuous</a:t>
            </a:r>
            <a:endParaRPr lang="en-US" sz="1400" dirty="0"/>
          </a:p>
        </p:txBody>
      </p:sp>
      <p:sp>
        <p:nvSpPr>
          <p:cNvPr id="16" name="text-90"/>
          <p:cNvSpPr txBox="1"/>
          <p:nvPr/>
        </p:nvSpPr>
        <p:spPr>
          <a:xfrm>
            <a:off x="10058400" y="5074920"/>
            <a:ext cx="1280160" cy="274320"/>
          </a:xfrm>
          <a:prstGeom prst="rect">
            <a:avLst/>
          </a:prstGeom>
          <a:noFill/>
          <a:ln/>
        </p:spPr>
        <p:txBody>
          <a:bodyPr wrap="square" lIns="0" tIns="0" rIns="0" bIns="0" rtlCol="0" anchor="ctr"/>
          <a:lstStyle/>
          <a:p>
            <a:pPr algn="r" indent="0" marL="0">
              <a:buNone/>
            </a:pPr>
            <a:r>
              <a:rPr lang="en-US" sz="1400" b="1" dirty="0">
                <a:solidFill>
                  <a:schemeClr val="accent1"/>
                </a:solidFill>
              </a:rPr>
              <a:t>&lt; 150 ms</a:t>
            </a:r>
            <a:endParaRPr lang="en-US" sz="1400" dirty="0"/>
          </a:p>
        </p:txBody>
      </p:sp>
      <p:sp>
        <p:nvSpPr>
          <p:cNvPr id="17" name="node-91"/>
          <p:cNvSpPr/>
          <p:nvPr/>
        </p:nvSpPr>
        <p:spPr>
          <a:xfrm>
            <a:off x="7808976" y="5449824"/>
            <a:ext cx="109728" cy="109728"/>
          </a:xfrm>
          <a:prstGeom prst="ellipse">
            <a:avLst/>
          </a:prstGeom>
          <a:solidFill>
            <a:schemeClr val="accent5"/>
          </a:solidFill>
          <a:ln w="6350">
            <a:solidFill>
              <a:schemeClr val="accent5"/>
            </a:solidFill>
            <a:prstDash val="solid"/>
          </a:ln>
        </p:spPr>
      </p:sp>
      <p:sp>
        <p:nvSpPr>
          <p:cNvPr id="18" name="text-92"/>
          <p:cNvSpPr txBox="1"/>
          <p:nvPr/>
        </p:nvSpPr>
        <p:spPr>
          <a:xfrm>
            <a:off x="8046720" y="5376672"/>
            <a:ext cx="2103120" cy="274320"/>
          </a:xfrm>
          <a:prstGeom prst="rect">
            <a:avLst/>
          </a:prstGeom>
          <a:noFill/>
          <a:ln/>
        </p:spPr>
        <p:txBody>
          <a:bodyPr wrap="square" lIns="0" tIns="0" rIns="0" bIns="0" rtlCol="0" anchor="ctr"/>
          <a:lstStyle/>
          <a:p>
            <a:pPr indent="0" marL="0">
              <a:buNone/>
            </a:pPr>
            <a:r>
              <a:rPr lang="en-US" sz="1400" dirty="0">
                <a:solidFill>
                  <a:schemeClr val="bg1"/>
                </a:solidFill>
              </a:rPr>
              <a:t>Mesh-relayed</a:t>
            </a:r>
            <a:endParaRPr lang="en-US" sz="1400" dirty="0"/>
          </a:p>
        </p:txBody>
      </p:sp>
      <p:sp>
        <p:nvSpPr>
          <p:cNvPr id="19" name="text-93"/>
          <p:cNvSpPr txBox="1"/>
          <p:nvPr/>
        </p:nvSpPr>
        <p:spPr>
          <a:xfrm>
            <a:off x="10058400" y="5376672"/>
            <a:ext cx="1280160" cy="274320"/>
          </a:xfrm>
          <a:prstGeom prst="rect">
            <a:avLst/>
          </a:prstGeom>
          <a:noFill/>
          <a:ln/>
        </p:spPr>
        <p:txBody>
          <a:bodyPr wrap="square" lIns="0" tIns="0" rIns="0" bIns="0" rtlCol="0" anchor="ctr"/>
          <a:lstStyle/>
          <a:p>
            <a:pPr algn="r" indent="0" marL="0">
              <a:buNone/>
            </a:pPr>
            <a:r>
              <a:rPr lang="en-US" sz="1400" b="1" dirty="0">
                <a:solidFill>
                  <a:schemeClr val="accent5"/>
                </a:solidFill>
              </a:rPr>
              <a:t>&lt; 250 ms</a:t>
            </a:r>
            <a:endParaRPr lang="en-US" sz="1400" dirty="0"/>
          </a:p>
        </p:txBody>
      </p:sp>
      <p:sp>
        <p:nvSpPr>
          <p:cNvPr id="20" name="node-94"/>
          <p:cNvSpPr/>
          <p:nvPr/>
        </p:nvSpPr>
        <p:spPr>
          <a:xfrm>
            <a:off x="7808976" y="5751576"/>
            <a:ext cx="109728" cy="109728"/>
          </a:xfrm>
          <a:prstGeom prst="ellipse">
            <a:avLst/>
          </a:prstGeom>
          <a:solidFill>
            <a:schemeClr val="bg2"/>
          </a:solidFill>
          <a:ln w="6350">
            <a:solidFill>
              <a:schemeClr val="bg2"/>
            </a:solidFill>
            <a:prstDash val="solid"/>
          </a:ln>
        </p:spPr>
      </p:sp>
      <p:sp>
        <p:nvSpPr>
          <p:cNvPr id="21" name="text-95"/>
          <p:cNvSpPr txBox="1"/>
          <p:nvPr/>
        </p:nvSpPr>
        <p:spPr>
          <a:xfrm>
            <a:off x="8046720" y="5678424"/>
            <a:ext cx="2103120" cy="274320"/>
          </a:xfrm>
          <a:prstGeom prst="rect">
            <a:avLst/>
          </a:prstGeom>
          <a:noFill/>
          <a:ln/>
        </p:spPr>
        <p:txBody>
          <a:bodyPr wrap="square" lIns="0" tIns="0" rIns="0" bIns="0" rtlCol="0" anchor="ctr"/>
          <a:lstStyle/>
          <a:p>
            <a:pPr indent="0" marL="0">
              <a:buNone/>
            </a:pPr>
            <a:r>
              <a:rPr lang="en-US" sz="1400" dirty="0">
                <a:solidFill>
                  <a:schemeClr val="bg1"/>
                </a:solidFill>
              </a:rPr>
              <a:t>Store-and-forward</a:t>
            </a:r>
            <a:endParaRPr lang="en-US" sz="1400" dirty="0"/>
          </a:p>
        </p:txBody>
      </p:sp>
      <p:sp>
        <p:nvSpPr>
          <p:cNvPr id="22" name="text-96"/>
          <p:cNvSpPr txBox="1"/>
          <p:nvPr/>
        </p:nvSpPr>
        <p:spPr>
          <a:xfrm>
            <a:off x="10058400" y="5678424"/>
            <a:ext cx="1280160" cy="274320"/>
          </a:xfrm>
          <a:prstGeom prst="rect">
            <a:avLst/>
          </a:prstGeom>
          <a:noFill/>
          <a:ln/>
        </p:spPr>
        <p:txBody>
          <a:bodyPr wrap="square" lIns="0" tIns="0" rIns="0" bIns="0" rtlCol="0" anchor="ctr"/>
          <a:lstStyle/>
          <a:p>
            <a:pPr algn="r" indent="0" marL="0">
              <a:buNone/>
            </a:pPr>
            <a:r>
              <a:rPr lang="en-US" sz="1400" b="1" dirty="0">
                <a:solidFill>
                  <a:schemeClr val="bg2"/>
                </a:solidFill>
              </a:rPr>
              <a:t>≤ 90 min</a:t>
            </a:r>
            <a:endParaRPr lang="en-US" sz="1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05 · TECHNICAL: COVERAGE</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Orbit choice beats satellite count for the North Sea</a:t>
            </a:r>
            <a:endParaRPr lang="en-US" sz="3000" dirty="0"/>
          </a:p>
        </p:txBody>
      </p:sp>
      <p:sp>
        <p:nvSpPr>
          <p:cNvPr id="4" name="card-97"/>
          <p:cNvSpPr/>
          <p:nvPr/>
        </p:nvSpPr>
        <p:spPr>
          <a:xfrm>
            <a:off x="548640" y="1783080"/>
            <a:ext cx="6675120" cy="4297680"/>
          </a:xfrm>
          <a:prstGeom prst="roundRect">
            <a:avLst>
              <a:gd name="adj" fmla="val 2553"/>
            </a:avLst>
          </a:prstGeom>
          <a:solidFill>
            <a:schemeClr val="tx2"/>
          </a:solidFill>
          <a:ln w="9525">
            <a:solidFill>
              <a:srgbClr val="3A3A42"/>
            </a:solidFill>
            <a:prstDash val="solid"/>
          </a:ln>
        </p:spPr>
      </p:sp>
      <p:graphicFrame>
        <p:nvGraphicFramePr>
          <p:cNvPr id="5" name="coverage-chart" descr=""/>
          <p:cNvGraphicFramePr/>
          <p:nvPr/>
        </p:nvGraphicFramePr>
        <p:xfrm>
          <a:off x="731520" y="1920240"/>
          <a:ext cx="6309360" cy="4023360"/>
        </p:xfrm>
        <a:graphic xmlns:a="http://schemas.openxmlformats.org/drawingml/2006/main">
          <a:graphicData uri="http://schemas.openxmlformats.org/drawingml/2006/chart">
            <c:chart xmlns:c="http://schemas.openxmlformats.org/drawingml/2006/chart" r:id="rId1"/>
          </a:graphicData>
        </a:graphic>
      </p:graphicFrame>
      <p:sp>
        <p:nvSpPr>
          <p:cNvPr id="6" name="text-98"/>
          <p:cNvSpPr txBox="1"/>
          <p:nvPr/>
        </p:nvSpPr>
        <p:spPr>
          <a:xfrm>
            <a:off x="7498080" y="1783080"/>
            <a:ext cx="4114800" cy="274320"/>
          </a:xfrm>
          <a:prstGeom prst="rect">
            <a:avLst/>
          </a:prstGeom>
          <a:noFill/>
          <a:ln/>
        </p:spPr>
        <p:txBody>
          <a:bodyPr wrap="square" lIns="0" tIns="0" rIns="0" bIns="0" rtlCol="0" anchor="t"/>
          <a:lstStyle/>
          <a:p>
            <a:pPr indent="0" marL="0">
              <a:buNone/>
            </a:pPr>
            <a:r>
              <a:rPr lang="en-US" sz="1200" b="1" spc="200" kern="0" dirty="0">
                <a:solidFill>
                  <a:schemeClr val="bg2"/>
                </a:solidFill>
              </a:rPr>
              <a:t>LONGEST COVERAGE GAP</a:t>
            </a:r>
            <a:endParaRPr lang="en-US" sz="1200" dirty="0"/>
          </a:p>
        </p:txBody>
      </p:sp>
      <p:sp>
        <p:nvSpPr>
          <p:cNvPr id="7" name="card-99"/>
          <p:cNvSpPr/>
          <p:nvPr/>
        </p:nvSpPr>
        <p:spPr>
          <a:xfrm>
            <a:off x="7498080" y="2148840"/>
            <a:ext cx="4114800" cy="850392"/>
          </a:xfrm>
          <a:prstGeom prst="roundRect">
            <a:avLst>
              <a:gd name="adj" fmla="val 12903"/>
            </a:avLst>
          </a:prstGeom>
          <a:solidFill>
            <a:schemeClr val="tx2"/>
          </a:solidFill>
          <a:ln w="9525">
            <a:solidFill>
              <a:srgbClr val="3A3A42"/>
            </a:solidFill>
            <a:prstDash val="solid"/>
          </a:ln>
        </p:spPr>
      </p:sp>
      <p:sp>
        <p:nvSpPr>
          <p:cNvPr id="8" name="text-100"/>
          <p:cNvSpPr txBox="1"/>
          <p:nvPr/>
        </p:nvSpPr>
        <p:spPr>
          <a:xfrm>
            <a:off x="7726680" y="2240280"/>
            <a:ext cx="1737360" cy="667512"/>
          </a:xfrm>
          <a:prstGeom prst="rect">
            <a:avLst/>
          </a:prstGeom>
          <a:noFill/>
          <a:ln/>
        </p:spPr>
        <p:txBody>
          <a:bodyPr wrap="square" lIns="0" tIns="0" rIns="0" bIns="0" rtlCol="0" anchor="ctr"/>
          <a:lstStyle/>
          <a:p>
            <a:pPr indent="0" marL="0">
              <a:buNone/>
            </a:pPr>
            <a:r>
              <a:rPr lang="en-US" sz="2600" b="1" dirty="0">
                <a:solidFill>
                  <a:srgbClr val="6B6B73"/>
                </a:solidFill>
              </a:rPr>
              <a:t>246 min</a:t>
            </a:r>
            <a:endParaRPr lang="en-US" sz="2600" dirty="0"/>
          </a:p>
        </p:txBody>
      </p:sp>
      <p:sp>
        <p:nvSpPr>
          <p:cNvPr id="9" name="text-101"/>
          <p:cNvSpPr txBox="1"/>
          <p:nvPr/>
        </p:nvSpPr>
        <p:spPr>
          <a:xfrm>
            <a:off x="9464040" y="2240280"/>
            <a:ext cx="2011680" cy="667512"/>
          </a:xfrm>
          <a:prstGeom prst="rect">
            <a:avLst/>
          </a:prstGeom>
          <a:noFill/>
          <a:ln/>
        </p:spPr>
        <p:txBody>
          <a:bodyPr wrap="square" lIns="0" tIns="0" rIns="0" bIns="0" rtlCol="0" anchor="ctr"/>
          <a:lstStyle/>
          <a:p>
            <a:pPr indent="0" marL="0">
              <a:buNone/>
            </a:pPr>
            <a:r>
              <a:rPr lang="en-US" sz="1200" dirty="0">
                <a:solidFill>
                  <a:schemeClr val="bg2"/>
                </a:solidFill>
              </a:rPr>
              <a:t>12 sats today: passes, not coverage</a:t>
            </a:r>
            <a:endParaRPr lang="en-US" sz="1200" dirty="0"/>
          </a:p>
        </p:txBody>
      </p:sp>
      <p:sp>
        <p:nvSpPr>
          <p:cNvPr id="10" name="card-102"/>
          <p:cNvSpPr/>
          <p:nvPr/>
        </p:nvSpPr>
        <p:spPr>
          <a:xfrm>
            <a:off x="7498080" y="3136392"/>
            <a:ext cx="4114800" cy="850392"/>
          </a:xfrm>
          <a:prstGeom prst="roundRect">
            <a:avLst>
              <a:gd name="adj" fmla="val 12903"/>
            </a:avLst>
          </a:prstGeom>
          <a:solidFill>
            <a:schemeClr val="tx2"/>
          </a:solidFill>
          <a:ln w="9525">
            <a:solidFill>
              <a:srgbClr val="3A3A42"/>
            </a:solidFill>
            <a:prstDash val="solid"/>
          </a:ln>
        </p:spPr>
      </p:sp>
      <p:sp>
        <p:nvSpPr>
          <p:cNvPr id="11" name="text-103"/>
          <p:cNvSpPr txBox="1"/>
          <p:nvPr/>
        </p:nvSpPr>
        <p:spPr>
          <a:xfrm>
            <a:off x="7726680" y="3227832"/>
            <a:ext cx="1737360" cy="667512"/>
          </a:xfrm>
          <a:prstGeom prst="rect">
            <a:avLst/>
          </a:prstGeom>
          <a:noFill/>
          <a:ln/>
        </p:spPr>
        <p:txBody>
          <a:bodyPr wrap="square" lIns="0" tIns="0" rIns="0" bIns="0" rtlCol="0" anchor="ctr"/>
          <a:lstStyle/>
          <a:p>
            <a:pPr indent="0" marL="0">
              <a:buNone/>
            </a:pPr>
            <a:r>
              <a:rPr lang="en-US" sz="2600" b="1" dirty="0">
                <a:solidFill>
                  <a:srgbClr val="A0A0A8"/>
                </a:solidFill>
              </a:rPr>
              <a:t>118 min</a:t>
            </a:r>
            <a:endParaRPr lang="en-US" sz="2600" dirty="0"/>
          </a:p>
        </p:txBody>
      </p:sp>
      <p:sp>
        <p:nvSpPr>
          <p:cNvPr id="12" name="text-104"/>
          <p:cNvSpPr txBox="1"/>
          <p:nvPr/>
        </p:nvSpPr>
        <p:spPr>
          <a:xfrm>
            <a:off x="9464040" y="3227832"/>
            <a:ext cx="2011680" cy="667512"/>
          </a:xfrm>
          <a:prstGeom prst="rect">
            <a:avLst/>
          </a:prstGeom>
          <a:noFill/>
          <a:ln/>
        </p:spPr>
        <p:txBody>
          <a:bodyPr wrap="square" lIns="0" tIns="0" rIns="0" bIns="0" rtlCol="0" anchor="ctr"/>
          <a:lstStyle/>
          <a:p>
            <a:pPr indent="0" marL="0">
              <a:buNone/>
            </a:pPr>
            <a:r>
              <a:rPr lang="en-US" sz="1200" dirty="0">
                <a:solidFill>
                  <a:schemeClr val="bg2"/>
                </a:solidFill>
              </a:rPr>
              <a:t>30 sats, sun-synchronous planes</a:t>
            </a:r>
            <a:endParaRPr lang="en-US" sz="1200" dirty="0"/>
          </a:p>
        </p:txBody>
      </p:sp>
      <p:sp>
        <p:nvSpPr>
          <p:cNvPr id="13" name="card-105"/>
          <p:cNvSpPr/>
          <p:nvPr/>
        </p:nvSpPr>
        <p:spPr>
          <a:xfrm>
            <a:off x="7498080" y="4123944"/>
            <a:ext cx="4114800" cy="850392"/>
          </a:xfrm>
          <a:prstGeom prst="roundRect">
            <a:avLst>
              <a:gd name="adj" fmla="val 12903"/>
            </a:avLst>
          </a:prstGeom>
          <a:solidFill>
            <a:schemeClr val="tx2"/>
          </a:solidFill>
          <a:ln w="9525">
            <a:solidFill>
              <a:srgbClr val="3A3A42"/>
            </a:solidFill>
            <a:prstDash val="solid"/>
          </a:ln>
        </p:spPr>
      </p:sp>
      <p:sp>
        <p:nvSpPr>
          <p:cNvPr id="14" name="text-106"/>
          <p:cNvSpPr txBox="1"/>
          <p:nvPr/>
        </p:nvSpPr>
        <p:spPr>
          <a:xfrm>
            <a:off x="7726680" y="4215384"/>
            <a:ext cx="1737360" cy="667512"/>
          </a:xfrm>
          <a:prstGeom prst="rect">
            <a:avLst/>
          </a:prstGeom>
          <a:noFill/>
          <a:ln/>
        </p:spPr>
        <p:txBody>
          <a:bodyPr wrap="square" lIns="0" tIns="0" rIns="0" bIns="0" rtlCol="0" anchor="ctr"/>
          <a:lstStyle/>
          <a:p>
            <a:pPr indent="0" marL="0">
              <a:buNone/>
            </a:pPr>
            <a:r>
              <a:rPr lang="en-US" sz="2600" b="1" dirty="0">
                <a:solidFill>
                  <a:srgbClr val="3FD0E0"/>
                </a:solidFill>
              </a:rPr>
              <a:t>3 min</a:t>
            </a:r>
            <a:endParaRPr lang="en-US" sz="2600" dirty="0"/>
          </a:p>
        </p:txBody>
      </p:sp>
      <p:sp>
        <p:nvSpPr>
          <p:cNvPr id="15" name="text-107"/>
          <p:cNvSpPr txBox="1"/>
          <p:nvPr/>
        </p:nvSpPr>
        <p:spPr>
          <a:xfrm>
            <a:off x="9464040" y="4215384"/>
            <a:ext cx="2011680" cy="667512"/>
          </a:xfrm>
          <a:prstGeom prst="rect">
            <a:avLst/>
          </a:prstGeom>
          <a:noFill/>
          <a:ln/>
        </p:spPr>
        <p:txBody>
          <a:bodyPr wrap="square" lIns="0" tIns="0" rIns="0" bIns="0" rtlCol="0" anchor="ctr"/>
          <a:lstStyle/>
          <a:p>
            <a:pPr indent="0" marL="0">
              <a:buNone/>
            </a:pPr>
            <a:r>
              <a:rPr lang="en-US" sz="1200" dirty="0">
                <a:solidFill>
                  <a:schemeClr val="bg2"/>
                </a:solidFill>
              </a:rPr>
              <a:t>same 30 sats, 65° Walker delta</a:t>
            </a:r>
            <a:endParaRPr lang="en-US" sz="1200" dirty="0"/>
          </a:p>
        </p:txBody>
      </p:sp>
      <p:sp>
        <p:nvSpPr>
          <p:cNvPr id="16" name="card-108"/>
          <p:cNvSpPr/>
          <p:nvPr/>
        </p:nvSpPr>
        <p:spPr>
          <a:xfrm>
            <a:off x="7498080" y="5166360"/>
            <a:ext cx="4114800" cy="914400"/>
          </a:xfrm>
          <a:prstGeom prst="roundRect">
            <a:avLst>
              <a:gd name="adj" fmla="val 12000"/>
            </a:avLst>
          </a:prstGeom>
          <a:solidFill>
            <a:schemeClr val="tx2"/>
          </a:solidFill>
          <a:ln w="9525">
            <a:solidFill>
              <a:srgbClr val="3A3A42"/>
            </a:solidFill>
            <a:prstDash val="solid"/>
          </a:ln>
        </p:spPr>
      </p:sp>
      <p:sp>
        <p:nvSpPr>
          <p:cNvPr id="17" name="text-109"/>
          <p:cNvSpPr txBox="1"/>
          <p:nvPr/>
        </p:nvSpPr>
        <p:spPr>
          <a:xfrm>
            <a:off x="7726680" y="5212080"/>
            <a:ext cx="3703320" cy="822960"/>
          </a:xfrm>
          <a:prstGeom prst="rect">
            <a:avLst/>
          </a:prstGeom>
          <a:noFill/>
          <a:ln/>
        </p:spPr>
        <p:txBody>
          <a:bodyPr wrap="square" lIns="0" tIns="0" rIns="0" bIns="0" rtlCol="0" anchor="ctr"/>
          <a:lstStyle/>
          <a:p>
            <a:pPr indent="0" marL="0">
              <a:buNone/>
            </a:pPr>
            <a:r>
              <a:rPr lang="en-US" sz="2200" b="1" dirty="0">
                <a:solidFill>
                  <a:schemeClr val="accent2"/>
                </a:solidFill>
              </a:rPr>
              <a:t>75%</a:t>
            </a:r>
            <a:pPr indent="0" marL="0">
              <a:buNone/>
            </a:pPr>
            <a:r>
              <a:rPr lang="en-US" sz="1300" dirty="0">
                <a:solidFill>
                  <a:schemeClr val="bg2"/>
                </a:solidFill>
              </a:rPr>
              <a:t> of alarms under 250 ms with the Walker delta (vs 59% on sun-synchronous)</a:t>
            </a:r>
            <a:endParaRPr lang="en-US" sz="1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06 · REGULATORY PATHWAY</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Sovereignty is built into routing, starting in Luxembourg</a:t>
            </a:r>
            <a:endParaRPr lang="en-US" sz="3000" dirty="0"/>
          </a:p>
        </p:txBody>
      </p:sp>
      <p:sp>
        <p:nvSpPr>
          <p:cNvPr id="4" name="link-110"/>
          <p:cNvSpPr/>
          <p:nvPr/>
        </p:nvSpPr>
        <p:spPr>
          <a:xfrm>
            <a:off x="822960" y="2103120"/>
            <a:ext cx="9034272" cy="914"/>
          </a:xfrm>
          <a:prstGeom prst="line">
            <a:avLst/>
          </a:prstGeom>
          <a:noFill/>
          <a:ln w="25400">
            <a:solidFill>
              <a:srgbClr val="3A3A42"/>
            </a:solidFill>
            <a:prstDash val="solid"/>
          </a:ln>
        </p:spPr>
      </p:sp>
      <p:sp>
        <p:nvSpPr>
          <p:cNvPr id="5" name="step-111"/>
          <p:cNvSpPr/>
          <p:nvPr/>
        </p:nvSpPr>
        <p:spPr>
          <a:xfrm>
            <a:off x="548640" y="1828800"/>
            <a:ext cx="548640" cy="548640"/>
          </a:xfrm>
          <a:prstGeom prst="ellipse">
            <a:avLst/>
          </a:prstGeom>
          <a:solidFill>
            <a:schemeClr val="accent2"/>
          </a:solidFill>
          <a:ln w="19050">
            <a:solidFill>
              <a:schemeClr val="accent2"/>
            </a:solidFill>
            <a:prstDash val="solid"/>
          </a:ln>
        </p:spPr>
      </p:sp>
      <p:sp>
        <p:nvSpPr>
          <p:cNvPr id="6" name="text-112"/>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113"/>
          <p:cNvSpPr txBox="1"/>
          <p:nvPr/>
        </p:nvSpPr>
        <p:spPr>
          <a:xfrm>
            <a:off x="548640" y="2514600"/>
            <a:ext cx="2103120" cy="548640"/>
          </a:xfrm>
          <a:prstGeom prst="rect">
            <a:avLst/>
          </a:prstGeom>
          <a:noFill/>
          <a:ln/>
        </p:spPr>
        <p:txBody>
          <a:bodyPr wrap="square" lIns="0" tIns="0" rIns="0" bIns="0" rtlCol="0" anchor="t"/>
          <a:lstStyle/>
          <a:p>
            <a:pPr indent="0" marL="0">
              <a:buNone/>
            </a:pPr>
            <a:r>
              <a:rPr lang="en-US" sz="1500" b="1" dirty="0">
                <a:solidFill>
                  <a:schemeClr val="bg1"/>
                </a:solidFill>
              </a:rPr>
              <a:t>Luxembourg ILR / LSA</a:t>
            </a:r>
            <a:endParaRPr lang="en-US" sz="1500" dirty="0"/>
          </a:p>
        </p:txBody>
      </p:sp>
      <p:sp>
        <p:nvSpPr>
          <p:cNvPr id="8" name="text-114"/>
          <p:cNvSpPr txBox="1"/>
          <p:nvPr/>
        </p:nvSpPr>
        <p:spPr>
          <a:xfrm>
            <a:off x="548640" y="3063240"/>
            <a:ext cx="2057400" cy="777240"/>
          </a:xfrm>
          <a:prstGeom prst="rect">
            <a:avLst/>
          </a:prstGeom>
          <a:noFill/>
          <a:ln/>
        </p:spPr>
        <p:txBody>
          <a:bodyPr wrap="square" lIns="0" tIns="0" rIns="0" bIns="0" rtlCol="0" anchor="t"/>
          <a:lstStyle/>
          <a:p>
            <a:pPr indent="0" marL="0">
              <a:buNone/>
            </a:pPr>
            <a:r>
              <a:rPr lang="en-US" sz="1200" dirty="0">
                <a:solidFill>
                  <a:schemeClr val="bg2"/>
                </a:solidFill>
              </a:rPr>
              <a:t>Extend OQ's Nov-2025 concession to ISL and regenerative ops</a:t>
            </a:r>
            <a:endParaRPr lang="en-US" sz="1200" dirty="0"/>
          </a:p>
        </p:txBody>
      </p:sp>
      <p:sp>
        <p:nvSpPr>
          <p:cNvPr id="9" name="step-115"/>
          <p:cNvSpPr/>
          <p:nvPr/>
        </p:nvSpPr>
        <p:spPr>
          <a:xfrm>
            <a:off x="2807208" y="1828800"/>
            <a:ext cx="548640" cy="548640"/>
          </a:xfrm>
          <a:prstGeom prst="ellipse">
            <a:avLst/>
          </a:prstGeom>
          <a:solidFill>
            <a:schemeClr val="tx2"/>
          </a:solidFill>
          <a:ln w="19050">
            <a:solidFill>
              <a:schemeClr val="accent2"/>
            </a:solidFill>
            <a:prstDash val="solid"/>
          </a:ln>
        </p:spPr>
      </p:sp>
      <p:sp>
        <p:nvSpPr>
          <p:cNvPr id="10" name="text-116"/>
          <p:cNvSpPr txBox="1"/>
          <p:nvPr/>
        </p:nvSpPr>
        <p:spPr>
          <a:xfrm>
            <a:off x="2807208" y="1828800"/>
            <a:ext cx="548640" cy="548640"/>
          </a:xfrm>
          <a:prstGeom prst="rect">
            <a:avLst/>
          </a:prstGeom>
          <a:noFill/>
          <a:ln/>
        </p:spPr>
        <p:txBody>
          <a:bodyPr wrap="square" lIns="0" tIns="0" rIns="0" bIns="0" rtlCol="0" anchor="ctr"/>
          <a:lstStyle/>
          <a:p>
            <a:pPr algn="ctr" indent="0" marL="0">
              <a:buNone/>
            </a:pPr>
            <a:r>
              <a:rPr lang="en-US" sz="1800" b="1" dirty="0">
                <a:solidFill>
                  <a:schemeClr val="accent2"/>
                </a:solidFill>
              </a:rPr>
              <a:t>2</a:t>
            </a:r>
            <a:endParaRPr lang="en-US" sz="1800" dirty="0"/>
          </a:p>
        </p:txBody>
      </p:sp>
      <p:sp>
        <p:nvSpPr>
          <p:cNvPr id="11" name="text-117"/>
          <p:cNvSpPr txBox="1"/>
          <p:nvPr/>
        </p:nvSpPr>
        <p:spPr>
          <a:xfrm>
            <a:off x="2807208" y="2514600"/>
            <a:ext cx="2103120" cy="548640"/>
          </a:xfrm>
          <a:prstGeom prst="rect">
            <a:avLst/>
          </a:prstGeom>
          <a:noFill/>
          <a:ln/>
        </p:spPr>
        <p:txBody>
          <a:bodyPr wrap="square" lIns="0" tIns="0" rIns="0" bIns="0" rtlCol="0" anchor="t"/>
          <a:lstStyle/>
          <a:p>
            <a:pPr indent="0" marL="0">
              <a:buNone/>
            </a:pPr>
            <a:r>
              <a:rPr lang="en-US" sz="1500" b="1" dirty="0">
                <a:solidFill>
                  <a:schemeClr val="bg1"/>
                </a:solidFill>
              </a:rPr>
              <a:t>ITU BR via Luxembourg</a:t>
            </a:r>
            <a:endParaRPr lang="en-US" sz="1500" dirty="0"/>
          </a:p>
        </p:txBody>
      </p:sp>
      <p:sp>
        <p:nvSpPr>
          <p:cNvPr id="12" name="text-118"/>
          <p:cNvSpPr txBox="1"/>
          <p:nvPr/>
        </p:nvSpPr>
        <p:spPr>
          <a:xfrm>
            <a:off x="2807208" y="3063240"/>
            <a:ext cx="2057400" cy="777240"/>
          </a:xfrm>
          <a:prstGeom prst="rect">
            <a:avLst/>
          </a:prstGeom>
          <a:noFill/>
          <a:ln/>
        </p:spPr>
        <p:txBody>
          <a:bodyPr wrap="square" lIns="0" tIns="0" rIns="0" bIns="0" rtlCol="0" anchor="t"/>
          <a:lstStyle/>
          <a:p>
            <a:pPr indent="0" marL="0">
              <a:buNone/>
            </a:pPr>
            <a:r>
              <a:rPr lang="en-US" sz="1200" dirty="0">
                <a:solidFill>
                  <a:schemeClr val="bg2"/>
                </a:solidFill>
              </a:rPr>
              <a:t>Priority filings: Art. 9 coordination, Art. 22 EPFD</a:t>
            </a:r>
            <a:endParaRPr lang="en-US" sz="1200" dirty="0"/>
          </a:p>
        </p:txBody>
      </p:sp>
      <p:sp>
        <p:nvSpPr>
          <p:cNvPr id="13" name="step-119"/>
          <p:cNvSpPr/>
          <p:nvPr/>
        </p:nvSpPr>
        <p:spPr>
          <a:xfrm>
            <a:off x="5065776" y="1828800"/>
            <a:ext cx="548640" cy="548640"/>
          </a:xfrm>
          <a:prstGeom prst="ellipse">
            <a:avLst/>
          </a:prstGeom>
          <a:solidFill>
            <a:schemeClr val="tx2"/>
          </a:solidFill>
          <a:ln w="19050">
            <a:solidFill>
              <a:schemeClr val="accent2"/>
            </a:solidFill>
            <a:prstDash val="solid"/>
          </a:ln>
        </p:spPr>
      </p:sp>
      <p:sp>
        <p:nvSpPr>
          <p:cNvPr id="14" name="text-120"/>
          <p:cNvSpPr txBox="1"/>
          <p:nvPr/>
        </p:nvSpPr>
        <p:spPr>
          <a:xfrm>
            <a:off x="5065776" y="1828800"/>
            <a:ext cx="548640" cy="548640"/>
          </a:xfrm>
          <a:prstGeom prst="rect">
            <a:avLst/>
          </a:prstGeom>
          <a:noFill/>
          <a:ln/>
        </p:spPr>
        <p:txBody>
          <a:bodyPr wrap="square" lIns="0" tIns="0" rIns="0" bIns="0" rtlCol="0" anchor="ctr"/>
          <a:lstStyle/>
          <a:p>
            <a:pPr algn="ctr" indent="0" marL="0">
              <a:buNone/>
            </a:pPr>
            <a:r>
              <a:rPr lang="en-US" sz="1800" b="1" dirty="0">
                <a:solidFill>
                  <a:schemeClr val="accent2"/>
                </a:solidFill>
              </a:rPr>
              <a:t>3</a:t>
            </a:r>
            <a:endParaRPr lang="en-US" sz="1800" dirty="0"/>
          </a:p>
        </p:txBody>
      </p:sp>
      <p:sp>
        <p:nvSpPr>
          <p:cNvPr id="15" name="text-121"/>
          <p:cNvSpPr txBox="1"/>
          <p:nvPr/>
        </p:nvSpPr>
        <p:spPr>
          <a:xfrm>
            <a:off x="5065776" y="2514600"/>
            <a:ext cx="2103120" cy="548640"/>
          </a:xfrm>
          <a:prstGeom prst="rect">
            <a:avLst/>
          </a:prstGeom>
          <a:noFill/>
          <a:ln/>
        </p:spPr>
        <p:txBody>
          <a:bodyPr wrap="square" lIns="0" tIns="0" rIns="0" bIns="0" rtlCol="0" anchor="t"/>
          <a:lstStyle/>
          <a:p>
            <a:pPr indent="0" marL="0">
              <a:buNone/>
            </a:pPr>
            <a:r>
              <a:rPr lang="en-US" sz="1500" b="1" dirty="0">
                <a:solidFill>
                  <a:schemeClr val="bg1"/>
                </a:solidFill>
              </a:rPr>
              <a:t>International waters</a:t>
            </a:r>
            <a:endParaRPr lang="en-US" sz="1500" dirty="0"/>
          </a:p>
        </p:txBody>
      </p:sp>
      <p:sp>
        <p:nvSpPr>
          <p:cNvPr id="16" name="text-122"/>
          <p:cNvSpPr txBox="1"/>
          <p:nvPr/>
        </p:nvSpPr>
        <p:spPr>
          <a:xfrm>
            <a:off x="5065776" y="3063240"/>
            <a:ext cx="2057400" cy="777240"/>
          </a:xfrm>
          <a:prstGeom prst="rect">
            <a:avLst/>
          </a:prstGeom>
          <a:noFill/>
          <a:ln/>
        </p:spPr>
        <p:txBody>
          <a:bodyPr wrap="square" lIns="0" tIns="0" rIns="0" bIns="0" rtlCol="0" anchor="t"/>
          <a:lstStyle/>
          <a:p>
            <a:pPr indent="0" marL="0">
              <a:buNone/>
            </a:pPr>
            <a:r>
              <a:rPr lang="en-US" sz="1200" dirty="0">
                <a:solidFill>
                  <a:schemeClr val="bg2"/>
                </a:solidFill>
              </a:rPr>
              <a:t>No landing rights needed: earliest revenue</a:t>
            </a:r>
            <a:endParaRPr lang="en-US" sz="1200" dirty="0"/>
          </a:p>
        </p:txBody>
      </p:sp>
      <p:sp>
        <p:nvSpPr>
          <p:cNvPr id="17" name="step-123"/>
          <p:cNvSpPr/>
          <p:nvPr/>
        </p:nvSpPr>
        <p:spPr>
          <a:xfrm>
            <a:off x="7324344" y="1828800"/>
            <a:ext cx="548640" cy="548640"/>
          </a:xfrm>
          <a:prstGeom prst="ellipse">
            <a:avLst/>
          </a:prstGeom>
          <a:solidFill>
            <a:schemeClr val="tx2"/>
          </a:solidFill>
          <a:ln w="19050">
            <a:solidFill>
              <a:schemeClr val="accent2"/>
            </a:solidFill>
            <a:prstDash val="solid"/>
          </a:ln>
        </p:spPr>
      </p:sp>
      <p:sp>
        <p:nvSpPr>
          <p:cNvPr id="18" name="text-124"/>
          <p:cNvSpPr txBox="1"/>
          <p:nvPr/>
        </p:nvSpPr>
        <p:spPr>
          <a:xfrm>
            <a:off x="7324344" y="1828800"/>
            <a:ext cx="548640" cy="548640"/>
          </a:xfrm>
          <a:prstGeom prst="rect">
            <a:avLst/>
          </a:prstGeom>
          <a:noFill/>
          <a:ln/>
        </p:spPr>
        <p:txBody>
          <a:bodyPr wrap="square" lIns="0" tIns="0" rIns="0" bIns="0" rtlCol="0" anchor="ctr"/>
          <a:lstStyle/>
          <a:p>
            <a:pPr algn="ctr" indent="0" marL="0">
              <a:buNone/>
            </a:pPr>
            <a:r>
              <a:rPr lang="en-US" sz="1800" b="1" dirty="0">
                <a:solidFill>
                  <a:schemeClr val="accent2"/>
                </a:solidFill>
              </a:rPr>
              <a:t>4</a:t>
            </a:r>
            <a:endParaRPr lang="en-US" sz="1800" dirty="0"/>
          </a:p>
        </p:txBody>
      </p:sp>
      <p:sp>
        <p:nvSpPr>
          <p:cNvPr id="19" name="text-125"/>
          <p:cNvSpPr txBox="1"/>
          <p:nvPr/>
        </p:nvSpPr>
        <p:spPr>
          <a:xfrm>
            <a:off x="7324344" y="2514600"/>
            <a:ext cx="2103120" cy="548640"/>
          </a:xfrm>
          <a:prstGeom prst="rect">
            <a:avLst/>
          </a:prstGeom>
          <a:noFill/>
          <a:ln/>
        </p:spPr>
        <p:txBody>
          <a:bodyPr wrap="square" lIns="0" tIns="0" rIns="0" bIns="0" rtlCol="0" anchor="t"/>
          <a:lstStyle/>
          <a:p>
            <a:pPr indent="0" marL="0">
              <a:buNone/>
            </a:pPr>
            <a:r>
              <a:rPr lang="en-US" sz="1500" b="1" dirty="0">
                <a:solidFill>
                  <a:schemeClr val="bg1"/>
                </a:solidFill>
              </a:rPr>
              <a:t>North Sea regulators + MNOs</a:t>
            </a:r>
            <a:endParaRPr lang="en-US" sz="1500" dirty="0"/>
          </a:p>
        </p:txBody>
      </p:sp>
      <p:sp>
        <p:nvSpPr>
          <p:cNvPr id="20" name="text-126"/>
          <p:cNvSpPr txBox="1"/>
          <p:nvPr/>
        </p:nvSpPr>
        <p:spPr>
          <a:xfrm>
            <a:off x="7324344" y="3063240"/>
            <a:ext cx="2057400" cy="777240"/>
          </a:xfrm>
          <a:prstGeom prst="rect">
            <a:avLst/>
          </a:prstGeom>
          <a:noFill/>
          <a:ln/>
        </p:spPr>
        <p:txBody>
          <a:bodyPr wrap="square" lIns="0" tIns="0" rIns="0" bIns="0" rtlCol="0" anchor="t"/>
          <a:lstStyle/>
          <a:p>
            <a:pPr indent="0" marL="0">
              <a:buNone/>
            </a:pPr>
            <a:r>
              <a:rPr lang="en-US" sz="1200" dirty="0">
                <a:solidFill>
                  <a:schemeClr val="bg2"/>
                </a:solidFill>
              </a:rPr>
              <a:t>UK, NO, DK, NL, DE for coastal coverage</a:t>
            </a:r>
            <a:endParaRPr lang="en-US" sz="1200" dirty="0"/>
          </a:p>
        </p:txBody>
      </p:sp>
      <p:sp>
        <p:nvSpPr>
          <p:cNvPr id="21" name="step-127"/>
          <p:cNvSpPr/>
          <p:nvPr/>
        </p:nvSpPr>
        <p:spPr>
          <a:xfrm>
            <a:off x="9582912" y="1828800"/>
            <a:ext cx="548640" cy="548640"/>
          </a:xfrm>
          <a:prstGeom prst="ellipse">
            <a:avLst/>
          </a:prstGeom>
          <a:solidFill>
            <a:schemeClr val="tx2"/>
          </a:solidFill>
          <a:ln w="19050">
            <a:solidFill>
              <a:schemeClr val="accent2"/>
            </a:solidFill>
            <a:prstDash val="solid"/>
          </a:ln>
        </p:spPr>
      </p:sp>
      <p:sp>
        <p:nvSpPr>
          <p:cNvPr id="22" name="text-128"/>
          <p:cNvSpPr txBox="1"/>
          <p:nvPr/>
        </p:nvSpPr>
        <p:spPr>
          <a:xfrm>
            <a:off x="9582912" y="1828800"/>
            <a:ext cx="548640" cy="548640"/>
          </a:xfrm>
          <a:prstGeom prst="rect">
            <a:avLst/>
          </a:prstGeom>
          <a:noFill/>
          <a:ln/>
        </p:spPr>
        <p:txBody>
          <a:bodyPr wrap="square" lIns="0" tIns="0" rIns="0" bIns="0" rtlCol="0" anchor="ctr"/>
          <a:lstStyle/>
          <a:p>
            <a:pPr algn="ctr" indent="0" marL="0">
              <a:buNone/>
            </a:pPr>
            <a:r>
              <a:rPr lang="en-US" sz="1800" b="1" dirty="0">
                <a:solidFill>
                  <a:schemeClr val="accent2"/>
                </a:solidFill>
              </a:rPr>
              <a:t>5</a:t>
            </a:r>
            <a:endParaRPr lang="en-US" sz="1800" dirty="0"/>
          </a:p>
        </p:txBody>
      </p:sp>
      <p:sp>
        <p:nvSpPr>
          <p:cNvPr id="23" name="text-129"/>
          <p:cNvSpPr txBox="1"/>
          <p:nvPr/>
        </p:nvSpPr>
        <p:spPr>
          <a:xfrm>
            <a:off x="9582912" y="2514600"/>
            <a:ext cx="2103120" cy="548640"/>
          </a:xfrm>
          <a:prstGeom prst="rect">
            <a:avLst/>
          </a:prstGeom>
          <a:noFill/>
          <a:ln/>
        </p:spPr>
        <p:txBody>
          <a:bodyPr wrap="square" lIns="0" tIns="0" rIns="0" bIns="0" rtlCol="0" anchor="t"/>
          <a:lstStyle/>
          <a:p>
            <a:pPr indent="0" marL="0">
              <a:buNone/>
            </a:pPr>
            <a:r>
              <a:rPr lang="en-US" sz="1500" b="1" dirty="0">
                <a:solidFill>
                  <a:schemeClr val="bg1"/>
                </a:solidFill>
              </a:rPr>
              <a:t>EC / CEPT</a:t>
            </a:r>
            <a:endParaRPr lang="en-US" sz="1500" dirty="0"/>
          </a:p>
        </p:txBody>
      </p:sp>
      <p:sp>
        <p:nvSpPr>
          <p:cNvPr id="24" name="text-130"/>
          <p:cNvSpPr txBox="1"/>
          <p:nvPr/>
        </p:nvSpPr>
        <p:spPr>
          <a:xfrm>
            <a:off x="9582912" y="3063240"/>
            <a:ext cx="2057400" cy="777240"/>
          </a:xfrm>
          <a:prstGeom prst="rect">
            <a:avLst/>
          </a:prstGeom>
          <a:noFill/>
          <a:ln/>
        </p:spPr>
        <p:txBody>
          <a:bodyPr wrap="square" lIns="0" tIns="0" rIns="0" bIns="0" rtlCol="0" anchor="t"/>
          <a:lstStyle/>
          <a:p>
            <a:pPr indent="0" marL="0">
              <a:buNone/>
            </a:pPr>
            <a:r>
              <a:rPr lang="en-US" sz="1200" dirty="0">
                <a:solidFill>
                  <a:schemeClr val="bg2"/>
                </a:solidFill>
              </a:rPr>
              <a:t>S-band MSS (IoT) and C-band D2D spectrum</a:t>
            </a:r>
            <a:endParaRPr lang="en-US" sz="1200" dirty="0"/>
          </a:p>
        </p:txBody>
      </p:sp>
      <p:sp>
        <p:nvSpPr>
          <p:cNvPr id="25" name="card-131"/>
          <p:cNvSpPr/>
          <p:nvPr/>
        </p:nvSpPr>
        <p:spPr>
          <a:xfrm>
            <a:off x="548640" y="3977640"/>
            <a:ext cx="3502152" cy="2103120"/>
          </a:xfrm>
          <a:prstGeom prst="roundRect">
            <a:avLst>
              <a:gd name="adj" fmla="val 5217"/>
            </a:avLst>
          </a:prstGeom>
          <a:solidFill>
            <a:schemeClr val="tx2"/>
          </a:solidFill>
          <a:ln w="9525">
            <a:solidFill>
              <a:srgbClr val="3A3A42"/>
            </a:solidFill>
            <a:prstDash val="solid"/>
          </a:ln>
        </p:spPr>
      </p:sp>
      <p:sp>
        <p:nvSpPr>
          <p:cNvPr id="26" name="icon-ring-132"/>
          <p:cNvSpPr/>
          <p:nvPr/>
        </p:nvSpPr>
        <p:spPr>
          <a:xfrm>
            <a:off x="822960" y="4206240"/>
            <a:ext cx="502920" cy="502920"/>
          </a:xfrm>
          <a:prstGeom prst="ellipse">
            <a:avLst/>
          </a:prstGeom>
          <a:solidFill>
            <a:schemeClr val="tx2"/>
          </a:solidFill>
          <a:ln w="15875">
            <a:solidFill>
              <a:schemeClr val="accent1"/>
            </a:solidFill>
            <a:prstDash val="solid"/>
          </a:ln>
        </p:spPr>
      </p:sp>
      <p:pic>
        <p:nvPicPr>
          <p:cNvPr id="27" name="icon-133" descr="preencoded.png">    </p:cNvPr>
          <p:cNvPicPr>
            <a:picLocks noChangeAspect="1"/>
          </p:cNvPicPr>
          <p:nvPr/>
        </p:nvPicPr>
        <p:blipFill>
          <a:blip r:embed="rId1"/>
          <a:stretch>
            <a:fillRect/>
          </a:stretch>
        </p:blipFill>
        <p:spPr>
          <a:xfrm>
            <a:off x="933602" y="4316882"/>
            <a:ext cx="281635" cy="281635"/>
          </a:xfrm>
          <a:prstGeom prst="rect">
            <a:avLst/>
          </a:prstGeom>
        </p:spPr>
      </p:pic>
      <p:sp>
        <p:nvSpPr>
          <p:cNvPr id="28" name="text-134"/>
          <p:cNvSpPr txBox="1"/>
          <p:nvPr/>
        </p:nvSpPr>
        <p:spPr>
          <a:xfrm>
            <a:off x="1463040" y="4206240"/>
            <a:ext cx="2404872" cy="502920"/>
          </a:xfrm>
          <a:prstGeom prst="rect">
            <a:avLst/>
          </a:prstGeom>
          <a:noFill/>
          <a:ln/>
        </p:spPr>
        <p:txBody>
          <a:bodyPr wrap="square" lIns="0" tIns="0" rIns="0" bIns="0" rtlCol="0" anchor="ctr"/>
          <a:lstStyle/>
          <a:p>
            <a:pPr indent="0" marL="0">
              <a:buNone/>
            </a:pPr>
            <a:r>
              <a:rPr lang="en-US" sz="1500" b="1" dirty="0">
                <a:solidFill>
                  <a:schemeClr val="bg1"/>
                </a:solidFill>
              </a:rPr>
              <a:t>Data residency, lawful intercept</a:t>
            </a:r>
            <a:endParaRPr lang="en-US" sz="1500" dirty="0"/>
          </a:p>
        </p:txBody>
      </p:sp>
      <p:sp>
        <p:nvSpPr>
          <p:cNvPr id="29" name="text-135"/>
          <p:cNvSpPr txBox="1"/>
          <p:nvPr/>
        </p:nvSpPr>
        <p:spPr>
          <a:xfrm>
            <a:off x="822960" y="4846320"/>
            <a:ext cx="2953512" cy="1188720"/>
          </a:xfrm>
          <a:prstGeom prst="rect">
            <a:avLst/>
          </a:prstGeom>
          <a:noFill/>
          <a:ln/>
        </p:spPr>
        <p:txBody>
          <a:bodyPr wrap="square" lIns="0" tIns="0" rIns="0" bIns="0" rtlCol="0" anchor="t"/>
          <a:lstStyle/>
          <a:p>
            <a:pPr indent="0" marL="0">
              <a:buNone/>
            </a:pPr>
            <a:r>
              <a:rPr lang="en-US" sz="1200" dirty="0">
                <a:solidFill>
                  <a:schemeClr val="bg2"/>
                </a:solidFill>
              </a:rPr>
              <a:t>The gNB knows identity, PLMN and verified location, so each flow lands only at an allowed gateway with local breakout. MNO keeps lawful intercept. 100% compliant in the twin.</a:t>
            </a:r>
            <a:endParaRPr lang="en-US" sz="1200" dirty="0"/>
          </a:p>
        </p:txBody>
      </p:sp>
      <p:sp>
        <p:nvSpPr>
          <p:cNvPr id="30" name="card-136"/>
          <p:cNvSpPr/>
          <p:nvPr/>
        </p:nvSpPr>
        <p:spPr>
          <a:xfrm>
            <a:off x="4325112" y="3977640"/>
            <a:ext cx="3502152" cy="2103120"/>
          </a:xfrm>
          <a:prstGeom prst="roundRect">
            <a:avLst>
              <a:gd name="adj" fmla="val 5217"/>
            </a:avLst>
          </a:prstGeom>
          <a:solidFill>
            <a:schemeClr val="tx2"/>
          </a:solidFill>
          <a:ln w="9525">
            <a:solidFill>
              <a:srgbClr val="3A3A42"/>
            </a:solidFill>
            <a:prstDash val="solid"/>
          </a:ln>
        </p:spPr>
      </p:sp>
      <p:sp>
        <p:nvSpPr>
          <p:cNvPr id="31" name="icon-ring-137"/>
          <p:cNvSpPr/>
          <p:nvPr/>
        </p:nvSpPr>
        <p:spPr>
          <a:xfrm>
            <a:off x="4599432" y="4206240"/>
            <a:ext cx="502920" cy="502920"/>
          </a:xfrm>
          <a:prstGeom prst="ellipse">
            <a:avLst/>
          </a:prstGeom>
          <a:solidFill>
            <a:schemeClr val="tx2"/>
          </a:solidFill>
          <a:ln w="15875">
            <a:solidFill>
              <a:schemeClr val="accent2"/>
            </a:solidFill>
            <a:prstDash val="solid"/>
          </a:ln>
        </p:spPr>
      </p:sp>
      <p:pic>
        <p:nvPicPr>
          <p:cNvPr id="32" name="icon-138" descr="preencoded.png">    </p:cNvPr>
          <p:cNvPicPr>
            <a:picLocks noChangeAspect="1"/>
          </p:cNvPicPr>
          <p:nvPr/>
        </p:nvPicPr>
        <p:blipFill>
          <a:blip r:embed="rId2"/>
          <a:stretch>
            <a:fillRect/>
          </a:stretch>
        </p:blipFill>
        <p:spPr>
          <a:xfrm>
            <a:off x="4710074" y="4316882"/>
            <a:ext cx="281635" cy="281635"/>
          </a:xfrm>
          <a:prstGeom prst="rect">
            <a:avLst/>
          </a:prstGeom>
        </p:spPr>
      </p:pic>
      <p:sp>
        <p:nvSpPr>
          <p:cNvPr id="33" name="text-139"/>
          <p:cNvSpPr txBox="1"/>
          <p:nvPr/>
        </p:nvSpPr>
        <p:spPr>
          <a:xfrm>
            <a:off x="5239512" y="4206240"/>
            <a:ext cx="2404872" cy="502920"/>
          </a:xfrm>
          <a:prstGeom prst="rect">
            <a:avLst/>
          </a:prstGeom>
          <a:noFill/>
          <a:ln/>
        </p:spPr>
        <p:txBody>
          <a:bodyPr wrap="square" lIns="0" tIns="0" rIns="0" bIns="0" rtlCol="0" anchor="ctr"/>
          <a:lstStyle/>
          <a:p>
            <a:pPr indent="0" marL="0">
              <a:buNone/>
            </a:pPr>
            <a:r>
              <a:rPr lang="en-US" sz="1500" b="1" dirty="0">
                <a:solidFill>
                  <a:schemeClr val="bg1"/>
                </a:solidFill>
              </a:rPr>
              <a:t>Spectrum as a hard constraint</a:t>
            </a:r>
            <a:endParaRPr lang="en-US" sz="1500" dirty="0"/>
          </a:p>
        </p:txBody>
      </p:sp>
      <p:sp>
        <p:nvSpPr>
          <p:cNvPr id="34" name="text-140"/>
          <p:cNvSpPr txBox="1"/>
          <p:nvPr/>
        </p:nvSpPr>
        <p:spPr>
          <a:xfrm>
            <a:off x="4599432" y="4846320"/>
            <a:ext cx="2953512" cy="1188720"/>
          </a:xfrm>
          <a:prstGeom prst="rect">
            <a:avLst/>
          </a:prstGeom>
          <a:noFill/>
          <a:ln/>
        </p:spPr>
        <p:txBody>
          <a:bodyPr wrap="square" lIns="0" tIns="0" rIns="0" bIns="0" rtlCol="0" anchor="t"/>
          <a:lstStyle/>
          <a:p>
            <a:pPr indent="0" marL="0">
              <a:buNone/>
            </a:pPr>
            <a:r>
              <a:rPr lang="en-US" sz="1200" dirty="0">
                <a:solidFill>
                  <a:schemeClr val="bg2"/>
                </a:solidFill>
              </a:rPr>
              <a:t>ITU Art. 9 / Art. 22 EPFD limits, feeder-link masks and gateway exclusion zones are inputs to routing, not afterthoughts.</a:t>
            </a:r>
            <a:endParaRPr lang="en-US" sz="1200" dirty="0"/>
          </a:p>
        </p:txBody>
      </p:sp>
      <p:sp>
        <p:nvSpPr>
          <p:cNvPr id="35" name="card-141"/>
          <p:cNvSpPr/>
          <p:nvPr/>
        </p:nvSpPr>
        <p:spPr>
          <a:xfrm>
            <a:off x="8101584" y="3977640"/>
            <a:ext cx="3502152" cy="2103120"/>
          </a:xfrm>
          <a:prstGeom prst="roundRect">
            <a:avLst>
              <a:gd name="adj" fmla="val 5217"/>
            </a:avLst>
          </a:prstGeom>
          <a:solidFill>
            <a:schemeClr val="tx2"/>
          </a:solidFill>
          <a:ln w="9525">
            <a:solidFill>
              <a:srgbClr val="3A3A42"/>
            </a:solidFill>
            <a:prstDash val="solid"/>
          </a:ln>
        </p:spPr>
      </p:sp>
      <p:sp>
        <p:nvSpPr>
          <p:cNvPr id="36" name="icon-ring-142"/>
          <p:cNvSpPr/>
          <p:nvPr/>
        </p:nvSpPr>
        <p:spPr>
          <a:xfrm>
            <a:off x="8375904" y="4206240"/>
            <a:ext cx="502920" cy="502920"/>
          </a:xfrm>
          <a:prstGeom prst="ellipse">
            <a:avLst/>
          </a:prstGeom>
          <a:solidFill>
            <a:schemeClr val="tx2"/>
          </a:solidFill>
          <a:ln w="15875">
            <a:solidFill>
              <a:schemeClr val="accent5"/>
            </a:solidFill>
            <a:prstDash val="solid"/>
          </a:ln>
        </p:spPr>
      </p:sp>
      <p:pic>
        <p:nvPicPr>
          <p:cNvPr id="37" name="icon-143" descr="preencoded.png">    </p:cNvPr>
          <p:cNvPicPr>
            <a:picLocks noChangeAspect="1"/>
          </p:cNvPicPr>
          <p:nvPr/>
        </p:nvPicPr>
        <p:blipFill>
          <a:blip r:embed="rId3"/>
          <a:stretch>
            <a:fillRect/>
          </a:stretch>
        </p:blipFill>
        <p:spPr>
          <a:xfrm>
            <a:off x="8486546" y="4316882"/>
            <a:ext cx="281635" cy="281635"/>
          </a:xfrm>
          <a:prstGeom prst="rect">
            <a:avLst/>
          </a:prstGeom>
        </p:spPr>
      </p:pic>
      <p:sp>
        <p:nvSpPr>
          <p:cNvPr id="38" name="text-144"/>
          <p:cNvSpPr txBox="1"/>
          <p:nvPr/>
        </p:nvSpPr>
        <p:spPr>
          <a:xfrm>
            <a:off x="9015984" y="4206240"/>
            <a:ext cx="2404872" cy="502920"/>
          </a:xfrm>
          <a:prstGeom prst="rect">
            <a:avLst/>
          </a:prstGeom>
          <a:noFill/>
          <a:ln/>
        </p:spPr>
        <p:txBody>
          <a:bodyPr wrap="square" lIns="0" tIns="0" rIns="0" bIns="0" rtlCol="0" anchor="ctr"/>
          <a:lstStyle/>
          <a:p>
            <a:pPr indent="0" marL="0">
              <a:buNone/>
            </a:pPr>
            <a:r>
              <a:rPr lang="en-US" sz="1500" b="1" dirty="0">
                <a:solidFill>
                  <a:schemeClr val="bg1"/>
                </a:solidFill>
              </a:rPr>
              <a:t>Export control and debris</a:t>
            </a:r>
            <a:endParaRPr lang="en-US" sz="1500" dirty="0"/>
          </a:p>
        </p:txBody>
      </p:sp>
      <p:sp>
        <p:nvSpPr>
          <p:cNvPr id="39" name="text-145"/>
          <p:cNvSpPr txBox="1"/>
          <p:nvPr/>
        </p:nvSpPr>
        <p:spPr>
          <a:xfrm>
            <a:off x="8375904" y="4846320"/>
            <a:ext cx="2953512" cy="1188720"/>
          </a:xfrm>
          <a:prstGeom prst="rect">
            <a:avLst/>
          </a:prstGeom>
          <a:noFill/>
          <a:ln/>
        </p:spPr>
        <p:txBody>
          <a:bodyPr wrap="square" lIns="0" tIns="0" rIns="0" bIns="0" rtlCol="0" anchor="t"/>
          <a:lstStyle/>
          <a:p>
            <a:pPr indent="0" marL="0">
              <a:buNone/>
            </a:pPr>
            <a:r>
              <a:rPr lang="en-US" sz="1200" dirty="0">
                <a:solidFill>
                  <a:schemeClr val="bg2"/>
                </a:solidFill>
              </a:rPr>
              <a:t>European optical ISL and gNB suppliers keep us outside ITAR/EAR. 5-year life, ~6 replacements a year, IADC deorbit compliance.</a:t>
            </a:r>
            <a:endParaRPr lang="en-US" sz="12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07 · BUSINESS CASE</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Start with North Sea offshore energy, priced per asset</a:t>
            </a:r>
            <a:endParaRPr lang="en-US" sz="3000" dirty="0"/>
          </a:p>
        </p:txBody>
      </p:sp>
      <p:sp>
        <p:nvSpPr>
          <p:cNvPr id="4" name="card-146"/>
          <p:cNvSpPr/>
          <p:nvPr/>
        </p:nvSpPr>
        <p:spPr>
          <a:xfrm>
            <a:off x="548640" y="1783080"/>
            <a:ext cx="3657600" cy="4297680"/>
          </a:xfrm>
          <a:prstGeom prst="roundRect">
            <a:avLst>
              <a:gd name="adj" fmla="val 3000"/>
            </a:avLst>
          </a:prstGeom>
          <a:solidFill>
            <a:schemeClr val="tx2"/>
          </a:solidFill>
          <a:ln w="9525">
            <a:solidFill>
              <a:srgbClr val="3A3A42"/>
            </a:solidFill>
            <a:prstDash val="solid"/>
          </a:ln>
        </p:spPr>
      </p:sp>
      <p:sp>
        <p:nvSpPr>
          <p:cNvPr id="5" name="icon-ring-147"/>
          <p:cNvSpPr/>
          <p:nvPr/>
        </p:nvSpPr>
        <p:spPr>
          <a:xfrm>
            <a:off x="822960" y="2011680"/>
            <a:ext cx="685800" cy="685800"/>
          </a:xfrm>
          <a:prstGeom prst="ellipse">
            <a:avLst/>
          </a:prstGeom>
          <a:solidFill>
            <a:schemeClr val="tx2"/>
          </a:solidFill>
          <a:ln w="15875">
            <a:solidFill>
              <a:schemeClr val="accent1"/>
            </a:solidFill>
            <a:prstDash val="solid"/>
          </a:ln>
        </p:spPr>
      </p:sp>
      <p:pic>
        <p:nvPicPr>
          <p:cNvPr id="6" name="icon-148" descr="preencoded.png">    </p:cNvPr>
          <p:cNvPicPr>
            <a:picLocks noChangeAspect="1"/>
          </p:cNvPicPr>
          <p:nvPr/>
        </p:nvPicPr>
        <p:blipFill>
          <a:blip r:embed="rId1"/>
          <a:stretch>
            <a:fillRect/>
          </a:stretch>
        </p:blipFill>
        <p:spPr>
          <a:xfrm>
            <a:off x="973836" y="2162556"/>
            <a:ext cx="384048" cy="384048"/>
          </a:xfrm>
          <a:prstGeom prst="rect">
            <a:avLst/>
          </a:prstGeom>
        </p:spPr>
      </p:pic>
      <p:sp>
        <p:nvSpPr>
          <p:cNvPr id="7" name="text-149"/>
          <p:cNvSpPr txBox="1"/>
          <p:nvPr/>
        </p:nvSpPr>
        <p:spPr>
          <a:xfrm>
            <a:off x="1645920" y="2103120"/>
            <a:ext cx="2377440" cy="502920"/>
          </a:xfrm>
          <a:prstGeom prst="rect">
            <a:avLst/>
          </a:prstGeom>
          <a:noFill/>
          <a:ln/>
        </p:spPr>
        <p:txBody>
          <a:bodyPr wrap="square" lIns="0" tIns="0" rIns="0" bIns="0" rtlCol="0" anchor="ctr"/>
          <a:lstStyle/>
          <a:p>
            <a:pPr indent="0" marL="0">
              <a:buNone/>
            </a:pPr>
            <a:r>
              <a:rPr lang="en-US" sz="2000" b="1" dirty="0">
                <a:solidFill>
                  <a:schemeClr val="bg1"/>
                </a:solidFill>
              </a:rPr>
              <a:t>First buyer</a:t>
            </a:r>
            <a:endParaRPr lang="en-US" sz="2000" dirty="0"/>
          </a:p>
        </p:txBody>
      </p:sp>
      <p:sp>
        <p:nvSpPr>
          <p:cNvPr id="8" name="text-150"/>
          <p:cNvSpPr txBox="1"/>
          <p:nvPr/>
        </p:nvSpPr>
        <p:spPr>
          <a:xfrm>
            <a:off x="822960" y="2926080"/>
            <a:ext cx="3154680" cy="3017520"/>
          </a:xfrm>
          <a:prstGeom prst="rect">
            <a:avLst/>
          </a:prstGeom>
          <a:noFill/>
          <a:ln/>
        </p:spPr>
        <p:txBody>
          <a:bodyPr wrap="square" lIns="0" tIns="0" rIns="0" bIns="0" rtlCol="0" anchor="t"/>
          <a:lstStyle/>
          <a:p>
            <a:pPr indent="0" marL="0">
              <a:spcAft>
                <a:spcPts val="800"/>
              </a:spcAft>
              <a:buNone/>
            </a:pPr>
            <a:r>
              <a:rPr lang="en-US" sz="1400" dirty="0">
                <a:solidFill>
                  <a:schemeClr val="bg2"/>
                </a:solidFill>
              </a:rPr>
              <a:t>European offshore energy operator or wind O&amp;M provider (e.g. Equinor, Ørsted, Eni)</a:t>
            </a:r>
            <a:endParaRPr lang="en-US" sz="1400" dirty="0"/>
          </a:p>
          <a:p>
            <a:pPr indent="0" marL="0">
              <a:spcAft>
                <a:spcPts val="800"/>
              </a:spcAft>
              <a:buNone/>
            </a:pPr>
            <a:r>
              <a:rPr lang="en-US" sz="1400" dirty="0">
                <a:solidFill>
                  <a:schemeClr val="bg2"/>
                </a:solidFill>
              </a:rPr>
              <a:t>Pain: blind spots, missed alarms, costly VSAT and fixed gateways</a:t>
            </a:r>
            <a:endParaRPr lang="en-US" sz="1400" dirty="0"/>
          </a:p>
          <a:p>
            <a:pPr indent="0" marL="0">
              <a:buNone/>
            </a:pPr>
            <a:r>
              <a:rPr lang="en-US" sz="1400" dirty="0">
                <a:solidFill>
                  <a:schemeClr val="bg2"/>
                </a:solidFill>
              </a:rPr>
              <a:t>Why first: international waters, sovereign-minded buyers, OQ's European funding focus</a:t>
            </a:r>
            <a:endParaRPr lang="en-US" sz="1400" dirty="0"/>
          </a:p>
        </p:txBody>
      </p:sp>
      <p:sp>
        <p:nvSpPr>
          <p:cNvPr id="9" name="card-151"/>
          <p:cNvSpPr/>
          <p:nvPr/>
        </p:nvSpPr>
        <p:spPr>
          <a:xfrm>
            <a:off x="4434840" y="1783080"/>
            <a:ext cx="3611880" cy="4297680"/>
          </a:xfrm>
          <a:prstGeom prst="roundRect">
            <a:avLst>
              <a:gd name="adj" fmla="val 3038"/>
            </a:avLst>
          </a:prstGeom>
          <a:solidFill>
            <a:schemeClr val="tx2"/>
          </a:solidFill>
          <a:ln w="9525">
            <a:solidFill>
              <a:srgbClr val="3A3A42"/>
            </a:solidFill>
            <a:prstDash val="solid"/>
          </a:ln>
        </p:spPr>
      </p:sp>
      <p:sp>
        <p:nvSpPr>
          <p:cNvPr id="10" name="text-152"/>
          <p:cNvSpPr txBox="1"/>
          <p:nvPr/>
        </p:nvSpPr>
        <p:spPr>
          <a:xfrm>
            <a:off x="4709160" y="2011680"/>
            <a:ext cx="3108960" cy="274320"/>
          </a:xfrm>
          <a:prstGeom prst="rect">
            <a:avLst/>
          </a:prstGeom>
          <a:noFill/>
          <a:ln/>
        </p:spPr>
        <p:txBody>
          <a:bodyPr wrap="square" lIns="0" tIns="0" rIns="0" bIns="0" rtlCol="0" anchor="t"/>
          <a:lstStyle/>
          <a:p>
            <a:pPr indent="0" marL="0">
              <a:buNone/>
            </a:pPr>
            <a:r>
              <a:rPr lang="en-US" sz="1200" b="1" spc="200" kern="0" dirty="0">
                <a:solidFill>
                  <a:schemeClr val="bg2"/>
                </a:solidFill>
              </a:rPr>
              <a:t>BREAK-EVEN</a:t>
            </a:r>
            <a:endParaRPr lang="en-US" sz="1200" dirty="0"/>
          </a:p>
        </p:txBody>
      </p:sp>
      <p:sp>
        <p:nvSpPr>
          <p:cNvPr id="11" name="text-153"/>
          <p:cNvSpPr txBox="1"/>
          <p:nvPr/>
        </p:nvSpPr>
        <p:spPr>
          <a:xfrm>
            <a:off x="4709160" y="2331720"/>
            <a:ext cx="3108960" cy="640080"/>
          </a:xfrm>
          <a:prstGeom prst="rect">
            <a:avLst/>
          </a:prstGeom>
          <a:noFill/>
          <a:ln/>
        </p:spPr>
        <p:txBody>
          <a:bodyPr wrap="square" lIns="0" tIns="0" rIns="0" bIns="0" rtlCol="0" anchor="t"/>
          <a:lstStyle/>
          <a:p>
            <a:pPr indent="0" marL="0">
              <a:buNone/>
            </a:pPr>
            <a:r>
              <a:rPr lang="en-US" sz="3600" b="1" dirty="0">
                <a:solidFill>
                  <a:schemeClr val="accent2"/>
                </a:solidFill>
              </a:rPr>
              <a:t>~€9M / yr</a:t>
            </a:r>
            <a:endParaRPr lang="en-US" sz="3600" dirty="0"/>
          </a:p>
        </p:txBody>
      </p:sp>
      <p:sp>
        <p:nvSpPr>
          <p:cNvPr id="12" name="text-154"/>
          <p:cNvSpPr txBox="1"/>
          <p:nvPr/>
        </p:nvSpPr>
        <p:spPr>
          <a:xfrm>
            <a:off x="4709160" y="2971800"/>
            <a:ext cx="3108960" cy="502920"/>
          </a:xfrm>
          <a:prstGeom prst="rect">
            <a:avLst/>
          </a:prstGeom>
          <a:noFill/>
          <a:ln/>
        </p:spPr>
        <p:txBody>
          <a:bodyPr wrap="square" lIns="0" tIns="0" rIns="0" bIns="0" rtlCol="0" anchor="t"/>
          <a:lstStyle/>
          <a:p>
            <a:pPr indent="0" marL="0">
              <a:buNone/>
            </a:pPr>
            <a:r>
              <a:rPr lang="en-US" sz="1200" dirty="0">
                <a:solidFill>
                  <a:schemeClr val="bg2"/>
                </a:solidFill>
              </a:rPr>
              <a:t>opex for the North Sea network, incl. replenishment</a:t>
            </a:r>
            <a:endParaRPr lang="en-US" sz="1200" dirty="0"/>
          </a:p>
        </p:txBody>
      </p:sp>
      <p:sp>
        <p:nvSpPr>
          <p:cNvPr id="13" name="text-155"/>
          <p:cNvSpPr txBox="1"/>
          <p:nvPr/>
        </p:nvSpPr>
        <p:spPr>
          <a:xfrm>
            <a:off x="4709160" y="3657600"/>
            <a:ext cx="3108960" cy="2286000"/>
          </a:xfrm>
          <a:prstGeom prst="rect">
            <a:avLst/>
          </a:prstGeom>
          <a:noFill/>
          <a:ln/>
        </p:spPr>
        <p:txBody>
          <a:bodyPr wrap="square" lIns="0" tIns="0" rIns="0" bIns="0" rtlCol="0" anchor="t"/>
          <a:lstStyle/>
          <a:p>
            <a:pPr indent="0" marL="0">
              <a:buNone/>
            </a:pPr>
            <a:r>
              <a:rPr lang="en-US" sz="2200" b="1" dirty="0">
                <a:solidFill>
                  <a:schemeClr val="bg1"/>
                </a:solidFill>
              </a:rPr>
              <a:t>~75k assets</a:t>
            </a:r>
            <a:endParaRPr lang="en-US" sz="1300" dirty="0"/>
          </a:p>
          <a:p>
            <a:pPr indent="0" marL="0">
              <a:buNone/>
            </a:pPr>
            <a:r>
              <a:rPr lang="en-US" sz="1300" dirty="0">
                <a:solidFill>
                  <a:schemeClr val="bg2"/>
                </a:solidFill>
              </a:rPr>
              <a:t>× €120 / yr IoT subscription</a:t>
            </a:r>
            <a:endParaRPr lang="en-US" sz="1300" dirty="0"/>
          </a:p>
          <a:p>
            <a:pPr indent="0" marL="0">
              <a:buNone/>
            </a:pPr>
            <a:r>
              <a:rPr lang="en-US" sz="1300" dirty="0">
                <a:solidFill>
                  <a:schemeClr val="accent6"/>
                </a:solidFill>
              </a:rPr>
              <a:t>or</a:t>
            </a:r>
            <a:endParaRPr lang="en-US" sz="1300" dirty="0"/>
          </a:p>
          <a:p>
            <a:pPr indent="0" marL="0">
              <a:buNone/>
            </a:pPr>
            <a:r>
              <a:rPr lang="en-US" sz="2200" b="1" dirty="0">
                <a:solidFill>
                  <a:schemeClr val="bg1"/>
                </a:solidFill>
              </a:rPr>
              <a:t>~9k endpoints</a:t>
            </a:r>
            <a:endParaRPr lang="en-US" sz="1300" dirty="0"/>
          </a:p>
          <a:p>
            <a:pPr indent="0" marL="0">
              <a:buNone/>
            </a:pPr>
            <a:r>
              <a:rPr lang="en-US" sz="1300" dirty="0">
                <a:solidFill>
                  <a:schemeClr val="bg2"/>
                </a:solidFill>
              </a:rPr>
              <a:t>× €1,000+ / yr sovereign / defence</a:t>
            </a:r>
            <a:endParaRPr lang="en-US" sz="1300" dirty="0"/>
          </a:p>
        </p:txBody>
      </p:sp>
      <p:sp>
        <p:nvSpPr>
          <p:cNvPr id="14" name="card-156"/>
          <p:cNvSpPr/>
          <p:nvPr/>
        </p:nvSpPr>
        <p:spPr>
          <a:xfrm>
            <a:off x="8275320" y="1783080"/>
            <a:ext cx="3337560" cy="4297680"/>
          </a:xfrm>
          <a:prstGeom prst="roundRect">
            <a:avLst>
              <a:gd name="adj" fmla="val 3288"/>
            </a:avLst>
          </a:prstGeom>
          <a:solidFill>
            <a:schemeClr val="tx2"/>
          </a:solidFill>
          <a:ln w="9525">
            <a:solidFill>
              <a:srgbClr val="3A3A42"/>
            </a:solidFill>
            <a:prstDash val="solid"/>
          </a:ln>
        </p:spPr>
      </p:sp>
      <p:sp>
        <p:nvSpPr>
          <p:cNvPr id="15" name="text-157"/>
          <p:cNvSpPr txBox="1"/>
          <p:nvPr/>
        </p:nvSpPr>
        <p:spPr>
          <a:xfrm>
            <a:off x="8549640" y="2011680"/>
            <a:ext cx="2834640" cy="274320"/>
          </a:xfrm>
          <a:prstGeom prst="rect">
            <a:avLst/>
          </a:prstGeom>
          <a:noFill/>
          <a:ln/>
        </p:spPr>
        <p:txBody>
          <a:bodyPr wrap="square" lIns="0" tIns="0" rIns="0" bIns="0" rtlCol="0" anchor="t"/>
          <a:lstStyle/>
          <a:p>
            <a:pPr indent="0" marL="0">
              <a:buNone/>
            </a:pPr>
            <a:r>
              <a:rPr lang="en-US" sz="1200" b="1" spc="200" kern="0" dirty="0">
                <a:solidFill>
                  <a:schemeClr val="bg2"/>
                </a:solidFill>
              </a:rPr>
              <a:t>REVENUE MODEL</a:t>
            </a:r>
            <a:endParaRPr lang="en-US" sz="1200" dirty="0"/>
          </a:p>
        </p:txBody>
      </p:sp>
      <p:sp>
        <p:nvSpPr>
          <p:cNvPr id="16" name="node-158"/>
          <p:cNvSpPr/>
          <p:nvPr/>
        </p:nvSpPr>
        <p:spPr>
          <a:xfrm>
            <a:off x="8586216" y="2523744"/>
            <a:ext cx="109728" cy="109728"/>
          </a:xfrm>
          <a:prstGeom prst="ellipse">
            <a:avLst/>
          </a:prstGeom>
          <a:solidFill>
            <a:schemeClr val="accent1"/>
          </a:solidFill>
          <a:ln w="6350">
            <a:solidFill>
              <a:schemeClr val="accent1"/>
            </a:solidFill>
            <a:prstDash val="solid"/>
          </a:ln>
        </p:spPr>
      </p:sp>
      <p:sp>
        <p:nvSpPr>
          <p:cNvPr id="17" name="text-159"/>
          <p:cNvSpPr txBox="1"/>
          <p:nvPr/>
        </p:nvSpPr>
        <p:spPr>
          <a:xfrm>
            <a:off x="8823960" y="2423160"/>
            <a:ext cx="2651760" cy="320040"/>
          </a:xfrm>
          <a:prstGeom prst="rect">
            <a:avLst/>
          </a:prstGeom>
          <a:noFill/>
          <a:ln/>
        </p:spPr>
        <p:txBody>
          <a:bodyPr wrap="square" lIns="0" tIns="0" rIns="0" bIns="0" rtlCol="0" anchor="t"/>
          <a:lstStyle/>
          <a:p>
            <a:pPr indent="0" marL="0">
              <a:buNone/>
            </a:pPr>
            <a:r>
              <a:rPr lang="en-US" sz="1500" b="1" dirty="0">
                <a:solidFill>
                  <a:schemeClr val="bg1"/>
                </a:solidFill>
              </a:rPr>
              <a:t>Integration fee</a:t>
            </a:r>
            <a:endParaRPr lang="en-US" sz="1500" dirty="0"/>
          </a:p>
        </p:txBody>
      </p:sp>
      <p:sp>
        <p:nvSpPr>
          <p:cNvPr id="18" name="text-160"/>
          <p:cNvSpPr txBox="1"/>
          <p:nvPr/>
        </p:nvSpPr>
        <p:spPr>
          <a:xfrm>
            <a:off x="8823960" y="2743200"/>
            <a:ext cx="2651760" cy="320040"/>
          </a:xfrm>
          <a:prstGeom prst="rect">
            <a:avLst/>
          </a:prstGeom>
          <a:noFill/>
          <a:ln/>
        </p:spPr>
        <p:txBody>
          <a:bodyPr wrap="square" lIns="0" tIns="0" rIns="0" bIns="0" rtlCol="0" anchor="t"/>
          <a:lstStyle/>
          <a:p>
            <a:pPr indent="0" marL="0">
              <a:buNone/>
            </a:pPr>
            <a:r>
              <a:rPr lang="en-US" sz="1200" dirty="0">
                <a:solidFill>
                  <a:schemeClr val="bg2"/>
                </a:solidFill>
              </a:rPr>
              <a:t>per customer onboarding</a:t>
            </a:r>
            <a:endParaRPr lang="en-US" sz="1200" dirty="0"/>
          </a:p>
        </p:txBody>
      </p:sp>
      <p:sp>
        <p:nvSpPr>
          <p:cNvPr id="19" name="node-161"/>
          <p:cNvSpPr/>
          <p:nvPr/>
        </p:nvSpPr>
        <p:spPr>
          <a:xfrm>
            <a:off x="8586216" y="3300984"/>
            <a:ext cx="109728" cy="109728"/>
          </a:xfrm>
          <a:prstGeom prst="ellipse">
            <a:avLst/>
          </a:prstGeom>
          <a:solidFill>
            <a:schemeClr val="accent1"/>
          </a:solidFill>
          <a:ln w="6350">
            <a:solidFill>
              <a:schemeClr val="accent1"/>
            </a:solidFill>
            <a:prstDash val="solid"/>
          </a:ln>
        </p:spPr>
      </p:sp>
      <p:sp>
        <p:nvSpPr>
          <p:cNvPr id="20" name="text-162"/>
          <p:cNvSpPr txBox="1"/>
          <p:nvPr/>
        </p:nvSpPr>
        <p:spPr>
          <a:xfrm>
            <a:off x="8823960" y="3200400"/>
            <a:ext cx="2651760" cy="320040"/>
          </a:xfrm>
          <a:prstGeom prst="rect">
            <a:avLst/>
          </a:prstGeom>
          <a:noFill/>
          <a:ln/>
        </p:spPr>
        <p:txBody>
          <a:bodyPr wrap="square" lIns="0" tIns="0" rIns="0" bIns="0" rtlCol="0" anchor="t"/>
          <a:lstStyle/>
          <a:p>
            <a:pPr indent="0" marL="0">
              <a:buNone/>
            </a:pPr>
            <a:r>
              <a:rPr lang="en-US" sz="1500" b="1" dirty="0">
                <a:solidFill>
                  <a:schemeClr val="bg1"/>
                </a:solidFill>
              </a:rPr>
              <a:t>Subscription</a:t>
            </a:r>
            <a:endParaRPr lang="en-US" sz="1500" dirty="0"/>
          </a:p>
        </p:txBody>
      </p:sp>
      <p:sp>
        <p:nvSpPr>
          <p:cNvPr id="21" name="text-163"/>
          <p:cNvSpPr txBox="1"/>
          <p:nvPr/>
        </p:nvSpPr>
        <p:spPr>
          <a:xfrm>
            <a:off x="8823960" y="3520440"/>
            <a:ext cx="2651760" cy="320040"/>
          </a:xfrm>
          <a:prstGeom prst="rect">
            <a:avLst/>
          </a:prstGeom>
          <a:noFill/>
          <a:ln/>
        </p:spPr>
        <p:txBody>
          <a:bodyPr wrap="square" lIns="0" tIns="0" rIns="0" bIns="0" rtlCol="0" anchor="t"/>
          <a:lstStyle/>
          <a:p>
            <a:pPr indent="0" marL="0">
              <a:buNone/>
            </a:pPr>
            <a:r>
              <a:rPr lang="en-US" sz="1200" dirty="0">
                <a:solidFill>
                  <a:schemeClr val="bg2"/>
                </a:solidFill>
              </a:rPr>
              <a:t>per asset and traffic class</a:t>
            </a:r>
            <a:endParaRPr lang="en-US" sz="1200" dirty="0"/>
          </a:p>
        </p:txBody>
      </p:sp>
      <p:sp>
        <p:nvSpPr>
          <p:cNvPr id="22" name="node-164"/>
          <p:cNvSpPr/>
          <p:nvPr/>
        </p:nvSpPr>
        <p:spPr>
          <a:xfrm>
            <a:off x="8586216" y="4078224"/>
            <a:ext cx="109728" cy="109728"/>
          </a:xfrm>
          <a:prstGeom prst="ellipse">
            <a:avLst/>
          </a:prstGeom>
          <a:solidFill>
            <a:schemeClr val="accent1"/>
          </a:solidFill>
          <a:ln w="6350">
            <a:solidFill>
              <a:schemeClr val="accent1"/>
            </a:solidFill>
            <a:prstDash val="solid"/>
          </a:ln>
        </p:spPr>
      </p:sp>
      <p:sp>
        <p:nvSpPr>
          <p:cNvPr id="23" name="text-165"/>
          <p:cNvSpPr txBox="1"/>
          <p:nvPr/>
        </p:nvSpPr>
        <p:spPr>
          <a:xfrm>
            <a:off x="8823960" y="3977640"/>
            <a:ext cx="2651760" cy="320040"/>
          </a:xfrm>
          <a:prstGeom prst="rect">
            <a:avLst/>
          </a:prstGeom>
          <a:noFill/>
          <a:ln/>
        </p:spPr>
        <p:txBody>
          <a:bodyPr wrap="square" lIns="0" tIns="0" rIns="0" bIns="0" rtlCol="0" anchor="t"/>
          <a:lstStyle/>
          <a:p>
            <a:pPr indent="0" marL="0">
              <a:buNone/>
            </a:pPr>
            <a:r>
              <a:rPr lang="en-US" sz="1500" b="1" dirty="0">
                <a:solidFill>
                  <a:schemeClr val="bg1"/>
                </a:solidFill>
              </a:rPr>
              <a:t>Priority QoS</a:t>
            </a:r>
            <a:endParaRPr lang="en-US" sz="1500" dirty="0"/>
          </a:p>
        </p:txBody>
      </p:sp>
      <p:sp>
        <p:nvSpPr>
          <p:cNvPr id="24" name="text-166"/>
          <p:cNvSpPr txBox="1"/>
          <p:nvPr/>
        </p:nvSpPr>
        <p:spPr>
          <a:xfrm>
            <a:off x="8823960" y="4297680"/>
            <a:ext cx="2651760" cy="320040"/>
          </a:xfrm>
          <a:prstGeom prst="rect">
            <a:avLst/>
          </a:prstGeom>
          <a:noFill/>
          <a:ln/>
        </p:spPr>
        <p:txBody>
          <a:bodyPr wrap="square" lIns="0" tIns="0" rIns="0" bIns="0" rtlCol="0" anchor="t"/>
          <a:lstStyle/>
          <a:p>
            <a:pPr indent="0" marL="0">
              <a:buNone/>
            </a:pPr>
            <a:r>
              <a:rPr lang="en-US" sz="1200" dirty="0">
                <a:solidFill>
                  <a:schemeClr val="bg2"/>
                </a:solidFill>
              </a:rPr>
              <a:t>usage charge for critical tier</a:t>
            </a:r>
            <a:endParaRPr lang="en-US" sz="1200" dirty="0"/>
          </a:p>
        </p:txBody>
      </p:sp>
      <p:sp>
        <p:nvSpPr>
          <p:cNvPr id="25" name="node-167"/>
          <p:cNvSpPr/>
          <p:nvPr/>
        </p:nvSpPr>
        <p:spPr>
          <a:xfrm>
            <a:off x="8586216" y="4855464"/>
            <a:ext cx="109728" cy="109728"/>
          </a:xfrm>
          <a:prstGeom prst="ellipse">
            <a:avLst/>
          </a:prstGeom>
          <a:solidFill>
            <a:schemeClr val="accent1"/>
          </a:solidFill>
          <a:ln w="6350">
            <a:solidFill>
              <a:schemeClr val="accent1"/>
            </a:solidFill>
            <a:prstDash val="solid"/>
          </a:ln>
        </p:spPr>
      </p:sp>
      <p:sp>
        <p:nvSpPr>
          <p:cNvPr id="26" name="text-168"/>
          <p:cNvSpPr txBox="1"/>
          <p:nvPr/>
        </p:nvSpPr>
        <p:spPr>
          <a:xfrm>
            <a:off x="8823960" y="4754880"/>
            <a:ext cx="2651760" cy="320040"/>
          </a:xfrm>
          <a:prstGeom prst="rect">
            <a:avLst/>
          </a:prstGeom>
          <a:noFill/>
          <a:ln/>
        </p:spPr>
        <p:txBody>
          <a:bodyPr wrap="square" lIns="0" tIns="0" rIns="0" bIns="0" rtlCol="0" anchor="t"/>
          <a:lstStyle/>
          <a:p>
            <a:pPr indent="0" marL="0">
              <a:buNone/>
            </a:pPr>
            <a:r>
              <a:rPr lang="en-US" sz="1500" b="1" dirty="0">
                <a:solidFill>
                  <a:schemeClr val="bg1"/>
                </a:solidFill>
              </a:rPr>
              <a:t>MNO wholesale</a:t>
            </a:r>
            <a:endParaRPr lang="en-US" sz="1500" dirty="0"/>
          </a:p>
        </p:txBody>
      </p:sp>
      <p:sp>
        <p:nvSpPr>
          <p:cNvPr id="27" name="text-169"/>
          <p:cNvSpPr txBox="1"/>
          <p:nvPr/>
        </p:nvSpPr>
        <p:spPr>
          <a:xfrm>
            <a:off x="8823960" y="5074920"/>
            <a:ext cx="2651760" cy="320040"/>
          </a:xfrm>
          <a:prstGeom prst="rect">
            <a:avLst/>
          </a:prstGeom>
          <a:noFill/>
          <a:ln/>
        </p:spPr>
        <p:txBody>
          <a:bodyPr wrap="square" lIns="0" tIns="0" rIns="0" bIns="0" rtlCol="0" anchor="t"/>
          <a:lstStyle/>
          <a:p>
            <a:pPr indent="0" marL="0">
              <a:buNone/>
            </a:pPr>
            <a:r>
              <a:rPr lang="en-US" sz="1200" dirty="0">
                <a:solidFill>
                  <a:schemeClr val="bg2"/>
                </a:solidFill>
              </a:rPr>
              <a:t>roaming for coastal coverage</a:t>
            </a:r>
            <a:endParaRPr lang="en-US" sz="1200" dirty="0"/>
          </a:p>
        </p:txBody>
      </p:sp>
      <p:sp>
        <p:nvSpPr>
          <p:cNvPr id="28" name="text-170"/>
          <p:cNvSpPr txBox="1"/>
          <p:nvPr/>
        </p:nvSpPr>
        <p:spPr>
          <a:xfrm>
            <a:off x="8549640" y="5349240"/>
            <a:ext cx="2880360" cy="548640"/>
          </a:xfrm>
          <a:prstGeom prst="rect">
            <a:avLst/>
          </a:prstGeom>
          <a:noFill/>
          <a:ln/>
        </p:spPr>
        <p:txBody>
          <a:bodyPr wrap="square" lIns="0" tIns="0" rIns="0" bIns="0" rtlCol="0" anchor="t"/>
          <a:lstStyle/>
          <a:p>
            <a:pPr indent="0" marL="0">
              <a:buNone/>
            </a:pPr>
            <a:r>
              <a:rPr lang="en-US" sz="1200" b="1" dirty="0">
                <a:solidFill>
                  <a:schemeClr val="accent2"/>
                </a:solidFill>
              </a:rPr>
              <a:t>Per asset, never per byte: </a:t>
            </a:r>
            <a:pPr indent="0" marL="0">
              <a:buNone/>
            </a:pPr>
            <a:r>
              <a:rPr lang="en-US" sz="1200" dirty="0">
                <a:solidFill>
                  <a:schemeClr val="bg2"/>
                </a:solidFill>
              </a:rPr>
              <a:t>at ~€2–3/MB, byte pricing would kill adoption.</a:t>
            </a:r>
            <a:endParaRPr lang="en-US" sz="12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08 · BENCHMARK</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We can't out-build the giants, so we out-position them</a:t>
            </a:r>
            <a:endParaRPr lang="en-US" sz="3000" dirty="0"/>
          </a:p>
        </p:txBody>
      </p:sp>
      <p:graphicFrame>
        <p:nvGraphicFramePr>
          <p:cNvPr id="10" name="benchmark-table"/>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651760"/>
                <a:gridCol w="2194560"/>
                <a:gridCol w="3291840"/>
                <a:gridCol w="2926080"/>
              </a:tblGrid>
              <a:tr h="566928">
                <a:tc>
                  <a:txBody>
                    <a:bodyPr/>
                    <a:lstStyle/>
                    <a:p>
                      <a:pPr indent="0" marL="0">
                        <a:buNone/>
                      </a:pPr>
                      <a:r>
                        <a:rPr lang="en-US" sz="1200" b="1" spc="100" kern="0" dirty="0">
                          <a:solidFill>
                            <a:schemeClr val="bg2"/>
                          </a:solidFill>
                        </a:rPr>
                        <a:t>APPROACH</a:t>
                      </a:r>
                      <a:endParaRPr lang="en-US" sz="12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200" b="1" spc="100" kern="0" dirty="0">
                          <a:solidFill>
                            <a:schemeClr val="bg2"/>
                          </a:solidFill>
                        </a:rPr>
                        <a:t>EXAMPLE</a:t>
                      </a:r>
                      <a:endParaRPr lang="en-US" sz="12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200" b="1" spc="100" kern="0" dirty="0">
                          <a:solidFill>
                            <a:schemeClr val="bg2"/>
                          </a:solidFill>
                        </a:rPr>
                        <a:t>LATENCY / COVERAGE</a:t>
                      </a:r>
                      <a:endParaRPr lang="en-US" sz="12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200" b="1" spc="100" kern="0" dirty="0">
                          <a:solidFill>
                            <a:schemeClr val="bg2"/>
                          </a:solidFill>
                        </a:rPr>
                        <a:t>SOVEREIGNTY / COST</a:t>
                      </a:r>
                      <a:endParaRPr lang="en-US" sz="12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bg1"/>
                          </a:solidFill>
                        </a:rPr>
                        <a:t>Bent-pipe NTN IoT</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Sateliot (~40 LEO)</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Waits for a gateway in view; store-and-forward</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EU, but Rel-17 bent-pipe only</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bg1"/>
                          </a:solidFill>
                        </a:rPr>
                        <a:t>GEO NTN IoT</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Skylo</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~240 ms round trip, no polar coverage</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Rents someone else's satellites</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bg1"/>
                          </a:solidFill>
                        </a:rPr>
                        <a:t>Regenerative direct-to-cell</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Starlink D2C, AST</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Low latency, huge ISL mesh</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US-controlled, billions in capex</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bg1"/>
                          </a:solidFill>
                        </a:rPr>
                        <a:t>Proprietary RF mesh</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Iridium (66 sats)</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True global, proven since the 1990s</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Proprietary, never cheap</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accent1"/>
                          </a:solidFill>
                        </a:rPr>
                        <a:t>Lynq NTN-Pulse on OQ</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~12 → 30 regen sats</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~85–100 ms alarms, 3-min worst gap (65° delta)</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EU-sovereign routing, 3GPP-open, per-asset</a:t>
                      </a:r>
                      <a:endParaRPr lang="en-US" sz="1300" dirty="0"/>
                    </a:p>
                  </a:txBody>
                  <a:tcPr marL="109728" marR="109728" marT="0" marB="0" anchor="ctr">
                    <a:lnL w="9525" cap="flat" cmpd="sng" algn="ctr">
                      <a:solidFill>
                        <a:srgbClr val="3A3A42"/>
                      </a:solidFill>
                      <a:prstDash val="solid"/>
                      <a:round/>
                      <a:headEnd type="none" w="med" len="med"/>
                      <a:tailEnd type="none" w="med" len="med"/>
                    </a:lnL>
                    <a:lnR w="9525" cap="flat" cmpd="sng" algn="ctr">
                      <a:solidFill>
                        <a:srgbClr val="3A3A42"/>
                      </a:solidFill>
                      <a:prstDash val="solid"/>
                      <a:round/>
                      <a:headEnd type="none" w="med" len="med"/>
                      <a:tailEnd type="none" w="med" len="med"/>
                    </a:lnR>
                    <a:lnT w="9525" cap="flat" cmpd="sng" algn="ctr">
                      <a:solidFill>
                        <a:srgbClr val="3A3A42"/>
                      </a:solidFill>
                      <a:prstDash val="solid"/>
                      <a:round/>
                      <a:headEnd type="none" w="med" len="med"/>
                      <a:tailEnd type="none" w="med" len="med"/>
                    </a:lnT>
                    <a:lnB w="9525" cap="flat" cmpd="sng" algn="ctr">
                      <a:solidFill>
                        <a:srgbClr val="3A3A42"/>
                      </a:solidFill>
                      <a:prstDash val="solid"/>
                      <a:round/>
                      <a:headEnd type="none" w="med" len="med"/>
                      <a:tailEnd type="none" w="med" len="med"/>
                    </a:lnB>
                    <a:solidFill>
                      <a:schemeClr val="tx2"/>
                    </a:solidFill>
                  </a:tcPr>
                </a:tc>
              </a:tr>
            </a:tbl>
          </a:graphicData>
        </a:graphic>
      </p:graphicFrame>
      <p:sp>
        <p:nvSpPr>
          <p:cNvPr id="5" name="card-171"/>
          <p:cNvSpPr/>
          <p:nvPr/>
        </p:nvSpPr>
        <p:spPr>
          <a:xfrm>
            <a:off x="548640" y="5440680"/>
            <a:ext cx="11064240" cy="640080"/>
          </a:xfrm>
          <a:prstGeom prst="roundRect">
            <a:avLst>
              <a:gd name="adj" fmla="val 17143"/>
            </a:avLst>
          </a:prstGeom>
          <a:solidFill>
            <a:schemeClr val="tx2"/>
          </a:solidFill>
          <a:ln w="9525">
            <a:solidFill>
              <a:srgbClr val="3A3A42"/>
            </a:solidFill>
            <a:prstDash val="solid"/>
          </a:ln>
        </p:spPr>
      </p:sp>
      <p:sp>
        <p:nvSpPr>
          <p:cNvPr id="6" name="icon-ring-172"/>
          <p:cNvSpPr/>
          <p:nvPr/>
        </p:nvSpPr>
        <p:spPr>
          <a:xfrm>
            <a:off x="685800" y="5504688"/>
            <a:ext cx="512064" cy="512064"/>
          </a:xfrm>
          <a:prstGeom prst="ellipse">
            <a:avLst/>
          </a:prstGeom>
          <a:solidFill>
            <a:schemeClr val="tx2"/>
          </a:solidFill>
          <a:ln w="15875">
            <a:solidFill>
              <a:schemeClr val="accent2"/>
            </a:solidFill>
            <a:prstDash val="solid"/>
          </a:ln>
        </p:spPr>
      </p:sp>
      <p:pic>
        <p:nvPicPr>
          <p:cNvPr id="7" name="icon-173" descr="preencoded.png">    </p:cNvPr>
          <p:cNvPicPr>
            <a:picLocks noChangeAspect="1"/>
          </p:cNvPicPr>
          <p:nvPr/>
        </p:nvPicPr>
        <p:blipFill>
          <a:blip r:embed="rId1"/>
          <a:stretch>
            <a:fillRect/>
          </a:stretch>
        </p:blipFill>
        <p:spPr>
          <a:xfrm>
            <a:off x="798454" y="5617342"/>
            <a:ext cx="286756" cy="286756"/>
          </a:xfrm>
          <a:prstGeom prst="rect">
            <a:avLst/>
          </a:prstGeom>
        </p:spPr>
      </p:pic>
      <p:sp>
        <p:nvSpPr>
          <p:cNvPr id="8" name="text-174"/>
          <p:cNvSpPr txBox="1"/>
          <p:nvPr/>
        </p:nvSpPr>
        <p:spPr>
          <a:xfrm>
            <a:off x="1371600" y="5486400"/>
            <a:ext cx="10058400" cy="548640"/>
          </a:xfrm>
          <a:prstGeom prst="rect">
            <a:avLst/>
          </a:prstGeom>
          <a:noFill/>
          <a:ln/>
        </p:spPr>
        <p:txBody>
          <a:bodyPr wrap="square" lIns="0" tIns="0" rIns="0" bIns="0" rtlCol="0" anchor="ctr"/>
          <a:lstStyle/>
          <a:p>
            <a:pPr indent="0" marL="0">
              <a:buNone/>
            </a:pPr>
            <a:r>
              <a:rPr lang="en-US" sz="1400" b="1" dirty="0">
                <a:solidFill>
                  <a:schemeClr val="accent2"/>
                </a:solidFill>
              </a:rPr>
              <a:t>Our edge: </a:t>
            </a:r>
            <a:pPr indent="0" marL="0">
              <a:buNone/>
            </a:pPr>
            <a:r>
              <a:rPr lang="en-US" sz="1400" dirty="0">
                <a:solidFill>
                  <a:schemeClr val="bg1"/>
                </a:solidFill>
              </a:rPr>
              <a:t>European sovereignty, data residency by design, and open 3GPP standards for buyers who will not route through US networks.</a:t>
            </a:r>
            <a:endParaRPr lang="en-US" sz="1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09 · RISKS AND NEXT STEPS</a:t>
            </a:r>
            <a:endParaRPr lang="en-US" sz="1200" dirty="0"/>
          </a:p>
        </p:txBody>
      </p:sp>
      <p:sp>
        <p:nvSpPr>
          <p:cNvPr id="3" name="Text 2"/>
          <p:cNvSpPr/>
          <p:nvPr>
            <p:ph idx="104" type="title" hasCustomPrompt="1"/>
          </p:nvPr>
        </p:nvSpPr>
        <p:spPr>
          <a:xfrm>
            <a:off x="548640" y="685800"/>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De-risk with one paid pilot: a wind-farm alarm use case</a:t>
            </a:r>
            <a:endParaRPr lang="en-US" sz="3000" dirty="0"/>
          </a:p>
        </p:txBody>
      </p:sp>
      <p:sp>
        <p:nvSpPr>
          <p:cNvPr id="4" name="text-175"/>
          <p:cNvSpPr txBox="1"/>
          <p:nvPr/>
        </p:nvSpPr>
        <p:spPr>
          <a:xfrm>
            <a:off x="548640" y="1783080"/>
            <a:ext cx="1828800" cy="274320"/>
          </a:xfrm>
          <a:prstGeom prst="rect">
            <a:avLst/>
          </a:prstGeom>
          <a:noFill/>
          <a:ln/>
        </p:spPr>
        <p:txBody>
          <a:bodyPr wrap="square" lIns="0" tIns="0" rIns="0" bIns="0" rtlCol="0" anchor="t"/>
          <a:lstStyle/>
          <a:p>
            <a:pPr indent="0" marL="0">
              <a:buNone/>
            </a:pPr>
            <a:r>
              <a:rPr lang="en-US" sz="1200" b="1" spc="200" kern="0" dirty="0">
                <a:solidFill>
                  <a:schemeClr val="bg2"/>
                </a:solidFill>
              </a:rPr>
              <a:t>RISK</a:t>
            </a:r>
            <a:endParaRPr lang="en-US" sz="1200" dirty="0"/>
          </a:p>
        </p:txBody>
      </p:sp>
      <p:sp>
        <p:nvSpPr>
          <p:cNvPr id="5" name="text-176"/>
          <p:cNvSpPr txBox="1"/>
          <p:nvPr/>
        </p:nvSpPr>
        <p:spPr>
          <a:xfrm>
            <a:off x="3931920" y="1783080"/>
            <a:ext cx="2743200" cy="274320"/>
          </a:xfrm>
          <a:prstGeom prst="rect">
            <a:avLst/>
          </a:prstGeom>
          <a:noFill/>
          <a:ln/>
        </p:spPr>
        <p:txBody>
          <a:bodyPr wrap="square" lIns="0" tIns="0" rIns="0" bIns="0" rtlCol="0" anchor="t"/>
          <a:lstStyle/>
          <a:p>
            <a:pPr indent="0" marL="0">
              <a:buNone/>
            </a:pPr>
            <a:r>
              <a:rPr lang="en-US" sz="1200" b="1" spc="200" kern="0" dirty="0">
                <a:solidFill>
                  <a:schemeClr val="bg2"/>
                </a:solidFill>
              </a:rPr>
              <a:t>MITIGATION</a:t>
            </a:r>
            <a:endParaRPr lang="en-US" sz="1200" dirty="0"/>
          </a:p>
        </p:txBody>
      </p:sp>
      <p:sp>
        <p:nvSpPr>
          <p:cNvPr id="6" name="card-177"/>
          <p:cNvSpPr/>
          <p:nvPr/>
        </p:nvSpPr>
        <p:spPr>
          <a:xfrm>
            <a:off x="548640" y="2148840"/>
            <a:ext cx="6583680" cy="1188720"/>
          </a:xfrm>
          <a:prstGeom prst="roundRect">
            <a:avLst>
              <a:gd name="adj" fmla="val 9231"/>
            </a:avLst>
          </a:prstGeom>
          <a:solidFill>
            <a:schemeClr val="tx2"/>
          </a:solidFill>
          <a:ln w="9525">
            <a:solidFill>
              <a:srgbClr val="3A3A42"/>
            </a:solidFill>
            <a:prstDash val="solid"/>
          </a:ln>
        </p:spPr>
      </p:sp>
      <p:sp>
        <p:nvSpPr>
          <p:cNvPr id="7" name="text-178"/>
          <p:cNvSpPr txBox="1"/>
          <p:nvPr/>
        </p:nvSpPr>
        <p:spPr>
          <a:xfrm>
            <a:off x="777240" y="2313432"/>
            <a:ext cx="2926080" cy="320040"/>
          </a:xfrm>
          <a:prstGeom prst="rect">
            <a:avLst/>
          </a:prstGeom>
          <a:noFill/>
          <a:ln/>
        </p:spPr>
        <p:txBody>
          <a:bodyPr wrap="square" lIns="0" tIns="0" rIns="0" bIns="0" rtlCol="0" anchor="t"/>
          <a:lstStyle/>
          <a:p>
            <a:pPr indent="0" marL="0">
              <a:buNone/>
            </a:pPr>
            <a:r>
              <a:rPr lang="en-US" sz="1500" b="1" dirty="0">
                <a:solidFill>
                  <a:schemeClr val="accent3"/>
                </a:solidFill>
              </a:rPr>
              <a:t>Payload</a:t>
            </a:r>
            <a:endParaRPr lang="en-US" sz="1500" dirty="0"/>
          </a:p>
        </p:txBody>
      </p:sp>
      <p:sp>
        <p:nvSpPr>
          <p:cNvPr id="8" name="text-179"/>
          <p:cNvSpPr txBox="1"/>
          <p:nvPr/>
        </p:nvSpPr>
        <p:spPr>
          <a:xfrm>
            <a:off x="777240" y="2651760"/>
            <a:ext cx="2926080" cy="594360"/>
          </a:xfrm>
          <a:prstGeom prst="rect">
            <a:avLst/>
          </a:prstGeom>
          <a:noFill/>
          <a:ln/>
        </p:spPr>
        <p:txBody>
          <a:bodyPr wrap="square" lIns="0" tIns="0" rIns="0" bIns="0" rtlCol="0" anchor="t"/>
          <a:lstStyle/>
          <a:p>
            <a:pPr indent="0" marL="0">
              <a:buNone/>
            </a:pPr>
            <a:r>
              <a:rPr lang="en-US" sz="1200" dirty="0">
                <a:solidFill>
                  <a:schemeClr val="bg2"/>
                </a:solidFill>
              </a:rPr>
              <a:t>Final power, compute, radiation and RAN limits may differ</a:t>
            </a:r>
            <a:endParaRPr lang="en-US" sz="1200" dirty="0"/>
          </a:p>
        </p:txBody>
      </p:sp>
      <p:sp>
        <p:nvSpPr>
          <p:cNvPr id="9" name="text-180"/>
          <p:cNvSpPr txBox="1"/>
          <p:nvPr/>
        </p:nvSpPr>
        <p:spPr>
          <a:xfrm>
            <a:off x="3931920" y="2313432"/>
            <a:ext cx="3017520" cy="914400"/>
          </a:xfrm>
          <a:prstGeom prst="rect">
            <a:avLst/>
          </a:prstGeom>
          <a:noFill/>
          <a:ln/>
        </p:spPr>
        <p:txBody>
          <a:bodyPr wrap="square" lIns="0" tIns="0" rIns="0" bIns="0" rtlCol="0" anchor="ctr"/>
          <a:lstStyle/>
          <a:p>
            <a:pPr indent="0" marL="0">
              <a:buNone/>
            </a:pPr>
            <a:r>
              <a:rPr lang="en-US" sz="1300" dirty="0">
                <a:solidFill>
                  <a:schemeClr val="bg1"/>
                </a:solidFill>
              </a:rPr>
              <a:t>Payload-independent policies with cloud/gateway fallback</a:t>
            </a:r>
            <a:endParaRPr lang="en-US" sz="1300" dirty="0"/>
          </a:p>
        </p:txBody>
      </p:sp>
      <p:sp>
        <p:nvSpPr>
          <p:cNvPr id="10" name="card-181"/>
          <p:cNvSpPr/>
          <p:nvPr/>
        </p:nvSpPr>
        <p:spPr>
          <a:xfrm>
            <a:off x="548640" y="3493008"/>
            <a:ext cx="6583680" cy="1188720"/>
          </a:xfrm>
          <a:prstGeom prst="roundRect">
            <a:avLst>
              <a:gd name="adj" fmla="val 9231"/>
            </a:avLst>
          </a:prstGeom>
          <a:solidFill>
            <a:schemeClr val="tx2"/>
          </a:solidFill>
          <a:ln w="9525">
            <a:solidFill>
              <a:srgbClr val="3A3A42"/>
            </a:solidFill>
            <a:prstDash val="solid"/>
          </a:ln>
        </p:spPr>
      </p:sp>
      <p:sp>
        <p:nvSpPr>
          <p:cNvPr id="11" name="text-182"/>
          <p:cNvSpPr txBox="1"/>
          <p:nvPr/>
        </p:nvSpPr>
        <p:spPr>
          <a:xfrm>
            <a:off x="777240" y="3657600"/>
            <a:ext cx="2926080" cy="320040"/>
          </a:xfrm>
          <a:prstGeom prst="rect">
            <a:avLst/>
          </a:prstGeom>
          <a:noFill/>
          <a:ln/>
        </p:spPr>
        <p:txBody>
          <a:bodyPr wrap="square" lIns="0" tIns="0" rIns="0" bIns="0" rtlCol="0" anchor="t"/>
          <a:lstStyle/>
          <a:p>
            <a:pPr indent="0" marL="0">
              <a:buNone/>
            </a:pPr>
            <a:r>
              <a:rPr lang="en-US" sz="1500" b="1" dirty="0">
                <a:solidFill>
                  <a:schemeClr val="accent3"/>
                </a:solidFill>
              </a:rPr>
              <a:t>ISL / regulatory</a:t>
            </a:r>
            <a:endParaRPr lang="en-US" sz="1500" dirty="0"/>
          </a:p>
        </p:txBody>
      </p:sp>
      <p:sp>
        <p:nvSpPr>
          <p:cNvPr id="12" name="text-183"/>
          <p:cNvSpPr txBox="1"/>
          <p:nvPr/>
        </p:nvSpPr>
        <p:spPr>
          <a:xfrm>
            <a:off x="777240" y="3995928"/>
            <a:ext cx="2926080" cy="594360"/>
          </a:xfrm>
          <a:prstGeom prst="rect">
            <a:avLst/>
          </a:prstGeom>
          <a:noFill/>
          <a:ln/>
        </p:spPr>
        <p:txBody>
          <a:bodyPr wrap="square" lIns="0" tIns="0" rIns="0" bIns="0" rtlCol="0" anchor="t"/>
          <a:lstStyle/>
          <a:p>
            <a:pPr indent="0" marL="0">
              <a:buNone/>
            </a:pPr>
            <a:r>
              <a:rPr lang="en-US" sz="1200" dirty="0">
                <a:solidFill>
                  <a:schemeClr val="bg2"/>
                </a:solidFill>
              </a:rPr>
              <a:t>ISL, gateway and spectrum choices may change</a:t>
            </a:r>
            <a:endParaRPr lang="en-US" sz="1200" dirty="0"/>
          </a:p>
        </p:txBody>
      </p:sp>
      <p:sp>
        <p:nvSpPr>
          <p:cNvPr id="13" name="text-184"/>
          <p:cNvSpPr txBox="1"/>
          <p:nvPr/>
        </p:nvSpPr>
        <p:spPr>
          <a:xfrm>
            <a:off x="3931920" y="3657600"/>
            <a:ext cx="3017520" cy="914400"/>
          </a:xfrm>
          <a:prstGeom prst="rect">
            <a:avLst/>
          </a:prstGeom>
          <a:noFill/>
          <a:ln/>
        </p:spPr>
        <p:txBody>
          <a:bodyPr wrap="square" lIns="0" tIns="0" rIns="0" bIns="0" rtlCol="0" anchor="ctr"/>
          <a:lstStyle/>
          <a:p>
            <a:pPr indent="0" marL="0">
              <a:buNone/>
            </a:pPr>
            <a:r>
              <a:rPr lang="en-US" sz="1300" dirty="0">
                <a:solidFill>
                  <a:schemeClr val="bg1"/>
                </a:solidFill>
              </a:rPr>
              <a:t>Simulate both ISL types; ITU and national rules as hard constraints</a:t>
            </a:r>
            <a:endParaRPr lang="en-US" sz="1300" dirty="0"/>
          </a:p>
        </p:txBody>
      </p:sp>
      <p:sp>
        <p:nvSpPr>
          <p:cNvPr id="14" name="card-185"/>
          <p:cNvSpPr/>
          <p:nvPr/>
        </p:nvSpPr>
        <p:spPr>
          <a:xfrm>
            <a:off x="548640" y="4837176"/>
            <a:ext cx="6583680" cy="1188720"/>
          </a:xfrm>
          <a:prstGeom prst="roundRect">
            <a:avLst>
              <a:gd name="adj" fmla="val 9231"/>
            </a:avLst>
          </a:prstGeom>
          <a:solidFill>
            <a:schemeClr val="tx2"/>
          </a:solidFill>
          <a:ln w="9525">
            <a:solidFill>
              <a:srgbClr val="3A3A42"/>
            </a:solidFill>
            <a:prstDash val="solid"/>
          </a:ln>
        </p:spPr>
      </p:sp>
      <p:sp>
        <p:nvSpPr>
          <p:cNvPr id="15" name="text-186"/>
          <p:cNvSpPr txBox="1"/>
          <p:nvPr/>
        </p:nvSpPr>
        <p:spPr>
          <a:xfrm>
            <a:off x="777240" y="5001768"/>
            <a:ext cx="2926080" cy="320040"/>
          </a:xfrm>
          <a:prstGeom prst="rect">
            <a:avLst/>
          </a:prstGeom>
          <a:noFill/>
          <a:ln/>
        </p:spPr>
        <p:txBody>
          <a:bodyPr wrap="square" lIns="0" tIns="0" rIns="0" bIns="0" rtlCol="0" anchor="t"/>
          <a:lstStyle/>
          <a:p>
            <a:pPr indent="0" marL="0">
              <a:buNone/>
            </a:pPr>
            <a:r>
              <a:rPr lang="en-US" sz="1500" b="1" dirty="0">
                <a:solidFill>
                  <a:schemeClr val="accent3"/>
                </a:solidFill>
              </a:rPr>
              <a:t>Adoption</a:t>
            </a:r>
            <a:endParaRPr lang="en-US" sz="1500" dirty="0"/>
          </a:p>
        </p:txBody>
      </p:sp>
      <p:sp>
        <p:nvSpPr>
          <p:cNvPr id="16" name="text-187"/>
          <p:cNvSpPr txBox="1"/>
          <p:nvPr/>
        </p:nvSpPr>
        <p:spPr>
          <a:xfrm>
            <a:off x="777240" y="5340096"/>
            <a:ext cx="2926080" cy="594360"/>
          </a:xfrm>
          <a:prstGeom prst="rect">
            <a:avLst/>
          </a:prstGeom>
          <a:noFill/>
          <a:ln/>
        </p:spPr>
        <p:txBody>
          <a:bodyPr wrap="square" lIns="0" tIns="0" rIns="0" bIns="0" rtlCol="0" anchor="t"/>
          <a:lstStyle/>
          <a:p>
            <a:pPr indent="0" marL="0">
              <a:buNone/>
            </a:pPr>
            <a:r>
              <a:rPr lang="en-US" sz="1200" dirty="0">
                <a:solidFill>
                  <a:schemeClr val="bg2"/>
                </a:solidFill>
              </a:rPr>
              <a:t>Customers may resist new terminals or uncertain SLAs</a:t>
            </a:r>
            <a:endParaRPr lang="en-US" sz="1200" dirty="0"/>
          </a:p>
        </p:txBody>
      </p:sp>
      <p:sp>
        <p:nvSpPr>
          <p:cNvPr id="17" name="text-188"/>
          <p:cNvSpPr txBox="1"/>
          <p:nvPr/>
        </p:nvSpPr>
        <p:spPr>
          <a:xfrm>
            <a:off x="3931920" y="5001768"/>
            <a:ext cx="3017520" cy="914400"/>
          </a:xfrm>
          <a:prstGeom prst="rect">
            <a:avLst/>
          </a:prstGeom>
          <a:noFill/>
          <a:ln/>
        </p:spPr>
        <p:txBody>
          <a:bodyPr wrap="square" lIns="0" tIns="0" rIns="0" bIns="0" rtlCol="0" anchor="ctr"/>
          <a:lstStyle/>
          <a:p>
            <a:pPr indent="0" marL="0">
              <a:buNone/>
            </a:pPr>
            <a:r>
              <a:rPr lang="en-US" sz="1300" dirty="0">
                <a:solidFill>
                  <a:schemeClr val="bg1"/>
                </a:solidFill>
              </a:rPr>
              <a:t>One alarm use case, measured TCO, a paid pilot with SLA targets</a:t>
            </a:r>
            <a:endParaRPr lang="en-US" sz="1300" dirty="0"/>
          </a:p>
        </p:txBody>
      </p:sp>
      <p:sp>
        <p:nvSpPr>
          <p:cNvPr id="18" name="card-189"/>
          <p:cNvSpPr/>
          <p:nvPr/>
        </p:nvSpPr>
        <p:spPr>
          <a:xfrm>
            <a:off x="7406640" y="1783080"/>
            <a:ext cx="4206240" cy="4297680"/>
          </a:xfrm>
          <a:prstGeom prst="roundRect">
            <a:avLst>
              <a:gd name="adj" fmla="val 2609"/>
            </a:avLst>
          </a:prstGeom>
          <a:solidFill>
            <a:schemeClr val="tx2"/>
          </a:solidFill>
          <a:ln w="9525">
            <a:solidFill>
              <a:srgbClr val="3A3A42"/>
            </a:solidFill>
            <a:prstDash val="solid"/>
          </a:ln>
        </p:spPr>
      </p:sp>
      <p:sp>
        <p:nvSpPr>
          <p:cNvPr id="19" name="icon-ring-190"/>
          <p:cNvSpPr/>
          <p:nvPr/>
        </p:nvSpPr>
        <p:spPr>
          <a:xfrm>
            <a:off x="7680960" y="2011680"/>
            <a:ext cx="640080" cy="640080"/>
          </a:xfrm>
          <a:prstGeom prst="ellipse">
            <a:avLst/>
          </a:prstGeom>
          <a:solidFill>
            <a:schemeClr val="tx2"/>
          </a:solidFill>
          <a:ln w="15875">
            <a:solidFill>
              <a:schemeClr val="accent2"/>
            </a:solidFill>
            <a:prstDash val="solid"/>
          </a:ln>
        </p:spPr>
      </p:sp>
      <p:pic>
        <p:nvPicPr>
          <p:cNvPr id="20" name="icon-191" descr="preencoded.png">    </p:cNvPr>
          <p:cNvPicPr>
            <a:picLocks noChangeAspect="1"/>
          </p:cNvPicPr>
          <p:nvPr/>
        </p:nvPicPr>
        <p:blipFill>
          <a:blip r:embed="rId1"/>
          <a:stretch>
            <a:fillRect/>
          </a:stretch>
        </p:blipFill>
        <p:spPr>
          <a:xfrm>
            <a:off x="7821778" y="2152498"/>
            <a:ext cx="358445" cy="358445"/>
          </a:xfrm>
          <a:prstGeom prst="rect">
            <a:avLst/>
          </a:prstGeom>
        </p:spPr>
      </p:pic>
      <p:sp>
        <p:nvSpPr>
          <p:cNvPr id="21" name="text-192"/>
          <p:cNvSpPr txBox="1"/>
          <p:nvPr/>
        </p:nvSpPr>
        <p:spPr>
          <a:xfrm>
            <a:off x="8503920" y="2103120"/>
            <a:ext cx="2926080" cy="457200"/>
          </a:xfrm>
          <a:prstGeom prst="rect">
            <a:avLst/>
          </a:prstGeom>
          <a:noFill/>
          <a:ln/>
        </p:spPr>
        <p:txBody>
          <a:bodyPr wrap="square" lIns="0" tIns="0" rIns="0" bIns="0" rtlCol="0" anchor="ctr"/>
          <a:lstStyle/>
          <a:p>
            <a:pPr indent="0" marL="0">
              <a:buNone/>
            </a:pPr>
            <a:r>
              <a:rPr lang="en-US" sz="2000" b="1" dirty="0">
                <a:solidFill>
                  <a:schemeClr val="bg1"/>
                </a:solidFill>
              </a:rPr>
              <a:t>Next steps</a:t>
            </a:r>
            <a:endParaRPr lang="en-US" sz="2000" dirty="0"/>
          </a:p>
        </p:txBody>
      </p:sp>
      <p:sp>
        <p:nvSpPr>
          <p:cNvPr id="22" name="text-193"/>
          <p:cNvSpPr txBox="1"/>
          <p:nvPr/>
        </p:nvSpPr>
        <p:spPr>
          <a:xfrm>
            <a:off x="7680960" y="2880360"/>
            <a:ext cx="3703320" cy="3063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Phase 2 (here): live twin of one offshore corridor at 12 and 30 sats, bent-pipe vs regenerative</a:t>
            </a:r>
            <a:endParaRPr lang="en-US" sz="1400" dirty="0"/>
          </a:p>
          <a:p>
            <a:pPr marL="342900" indent="-342900">
              <a:spcAft>
                <a:spcPts val="800"/>
              </a:spcAft>
              <a:buSzPct val="100000"/>
              <a:buChar char="•"/>
            </a:pPr>
            <a:r>
              <a:rPr lang="en-US" sz="1400" dirty="0">
                <a:solidFill>
                  <a:schemeClr val="bg2"/>
                </a:solidFill>
              </a:rPr>
              <a:t>Validate the 65° Walker delta with OQ's launch plan</a:t>
            </a:r>
            <a:endParaRPr lang="en-US" sz="1400" dirty="0"/>
          </a:p>
          <a:p>
            <a:pPr marL="342900" indent="-342900">
              <a:spcAft>
                <a:spcPts val="800"/>
              </a:spcAft>
              <a:buSzPct val="100000"/>
              <a:buChar char="•"/>
            </a:pPr>
            <a:r>
              <a:rPr lang="en-US" sz="1400" dirty="0">
                <a:solidFill>
                  <a:schemeClr val="bg2"/>
                </a:solidFill>
              </a:rPr>
              <a:t>Paid pilot with one North Sea operator: latency, availability, delivery targets</a:t>
            </a:r>
            <a:endParaRPr lang="en-US" sz="1400" dirty="0"/>
          </a:p>
          <a:p>
            <a:pPr marL="342900" indent="-342900">
              <a:buSzPct val="100000"/>
              <a:buChar char="•"/>
            </a:pPr>
            <a:r>
              <a:rPr lang="en-US" sz="1400" dirty="0">
                <a:solidFill>
                  <a:schemeClr val="bg2"/>
                </a:solidFill>
              </a:rPr>
              <a:t>Orbit-aware fleet updates: 1.2 h with ISL vs 21 h without</a:t>
            </a:r>
            <a:endParaRPr lang="en-US" sz="1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rbit-outer"/>
          <p:cNvSpPr/>
          <p:nvPr/>
        </p:nvSpPr>
        <p:spPr>
          <a:xfrm>
            <a:off x="6949440" y="-1280160"/>
            <a:ext cx="6949440" cy="6949440"/>
          </a:xfrm>
          <a:prstGeom prst="ellipse">
            <a:avLst/>
          </a:prstGeom>
          <a:ln w="12700">
            <a:solidFill>
              <a:srgbClr val="FFFFFF">
                <a:alpha val="12000"/>
              </a:srgbClr>
            </a:solidFill>
            <a:prstDash val="solid"/>
          </a:ln>
        </p:spPr>
      </p:sp>
      <p:sp>
        <p:nvSpPr>
          <p:cNvPr id="3" name="orbit-inner"/>
          <p:cNvSpPr/>
          <p:nvPr/>
        </p:nvSpPr>
        <p:spPr>
          <a:xfrm>
            <a:off x="8046720" y="-182880"/>
            <a:ext cx="4754880" cy="4754880"/>
          </a:xfrm>
          <a:prstGeom prst="ellipse">
            <a:avLst/>
          </a:prstGeom>
          <a:ln w="12700">
            <a:solidFill>
              <a:srgbClr val="FFFFFF">
                <a:alpha val="10000"/>
              </a:srgbClr>
            </a:solidFill>
            <a:prstDash val="solid"/>
          </a:ln>
        </p:spPr>
      </p:sp>
      <p:pic>
        <p:nvPicPr>
          <p:cNvPr id="4" name="logo" descr="/home/eagle/coding/Neo-challenge/company/OQ/02-brand/lynq-brand-kit/logos/orbital-link/icon/png/lynq-orbital-link-icon-dark-1024.png">    </p:cNvPr>
          <p:cNvPicPr>
            <a:picLocks noChangeAspect="1"/>
          </p:cNvPicPr>
          <p:nvPr/>
        </p:nvPicPr>
        <p:blipFill>
          <a:blip r:embed="rId1"/>
          <a:stretch>
            <a:fillRect/>
          </a:stretch>
        </p:blipFill>
        <p:spPr>
          <a:xfrm>
            <a:off x="731520" y="731520"/>
            <a:ext cx="640080" cy="640080"/>
          </a:xfrm>
          <a:prstGeom prst="rect">
            <a:avLst/>
          </a:prstGeom>
        </p:spPr>
      </p:pic>
      <p:sp>
        <p:nvSpPr>
          <p:cNvPr id="5" name="text-194"/>
          <p:cNvSpPr txBox="1"/>
          <p:nvPr/>
        </p:nvSpPr>
        <p:spPr>
          <a:xfrm>
            <a:off x="1508760" y="777240"/>
            <a:ext cx="2743200" cy="548640"/>
          </a:xfrm>
          <a:prstGeom prst="rect">
            <a:avLst/>
          </a:prstGeom>
          <a:noFill/>
          <a:ln/>
        </p:spPr>
        <p:txBody>
          <a:bodyPr wrap="square" lIns="0" tIns="0" rIns="0" bIns="0" rtlCol="0" anchor="ctr"/>
          <a:lstStyle/>
          <a:p>
            <a:pPr indent="0" marL="0">
              <a:buNone/>
            </a:pPr>
            <a:r>
              <a:rPr lang="en-US" sz="3000" b="1" dirty="0">
                <a:solidFill>
                  <a:schemeClr val="bg1"/>
                </a:solidFill>
              </a:rPr>
              <a:t>Lynq</a:t>
            </a:r>
            <a:endParaRPr lang="en-US" sz="3000" dirty="0"/>
          </a:p>
        </p:txBody>
      </p:sp>
      <p:sp>
        <p:nvSpPr>
          <p:cNvPr id="6" name="Text 0"/>
          <p:cNvSpPr/>
          <p:nvPr>
            <p:ph idx="100" type="title" hasCustomPrompt="1"/>
          </p:nvPr>
        </p:nvSpPr>
        <p:spPr>
          <a:xfrm>
            <a:off x="731520" y="2148840"/>
            <a:ext cx="10058400" cy="1463040"/>
          </a:xfrm>
          <a:prstGeom prst="rect">
            <a:avLst/>
          </a:prstGeom>
          <a:noFill/>
          <a:ln/>
        </p:spPr>
        <p:txBody>
          <a:bodyPr wrap="square" lIns="0" tIns="0" rIns="0" bIns="0" rtlCol="0" anchor="b"/>
          <a:lstStyle/>
          <a:p>
            <a:pPr algn="l" indent="0" marL="0">
              <a:buNone/>
            </a:pPr>
            <a:r>
              <a:rPr lang="en-US" sz="5400" b="1" dirty="0">
                <a:solidFill>
                  <a:schemeClr val="bg1"/>
                </a:solidFill>
              </a:rPr>
              <a:t>Every signal, the right path.</a:t>
            </a:r>
            <a:endParaRPr lang="en-US" sz="5400" dirty="0"/>
          </a:p>
        </p:txBody>
      </p:sp>
      <p:sp>
        <p:nvSpPr>
          <p:cNvPr id="7" name="Text 0"/>
          <p:cNvSpPr/>
          <p:nvPr>
            <p:ph idx="101" type="body" hasCustomPrompt="1"/>
          </p:nvPr>
        </p:nvSpPr>
        <p:spPr>
          <a:xfrm>
            <a:off x="731520" y="3703320"/>
            <a:ext cx="7863840" cy="1097280"/>
          </a:xfrm>
          <a:prstGeom prst="rect">
            <a:avLst/>
          </a:prstGeom>
          <a:noFill/>
          <a:ln/>
        </p:spPr>
        <p:txBody>
          <a:bodyPr wrap="square" lIns="0" tIns="0" rIns="0" bIns="0" rtlCol="0" anchor="t"/>
          <a:lstStyle/>
          <a:p>
            <a:pPr algn="l" indent="0" marL="0">
              <a:buNone/>
            </a:pPr>
            <a:r>
              <a:rPr lang="en-US" sz="2400" dirty="0">
                <a:solidFill>
                  <a:schemeClr val="bg2"/>
                </a:solidFill>
              </a:rPr>
              <a:t>Thank you. Questions?</a:t>
            </a:r>
            <a:endParaRPr lang="en-US" sz="2400" dirty="0"/>
          </a:p>
        </p:txBody>
      </p:sp>
      <p:sp>
        <p:nvSpPr>
          <p:cNvPr id="8" name="text-195"/>
          <p:cNvSpPr txBox="1"/>
          <p:nvPr/>
        </p:nvSpPr>
        <p:spPr>
          <a:xfrm>
            <a:off x="731520" y="4846320"/>
            <a:ext cx="2468880" cy="594360"/>
          </a:xfrm>
          <a:prstGeom prst="rect">
            <a:avLst/>
          </a:prstGeom>
          <a:noFill/>
          <a:ln/>
        </p:spPr>
        <p:txBody>
          <a:bodyPr wrap="square" lIns="0" tIns="0" rIns="0" bIns="0" rtlCol="0" anchor="t"/>
          <a:lstStyle/>
          <a:p>
            <a:pPr indent="0" marL="0">
              <a:buNone/>
            </a:pPr>
            <a:r>
              <a:rPr lang="en-US" sz="3200" b="1" dirty="0">
                <a:solidFill>
                  <a:schemeClr val="accent1"/>
                </a:solidFill>
              </a:rPr>
              <a:t>~85 ms</a:t>
            </a:r>
            <a:endParaRPr lang="en-US" sz="3200" dirty="0"/>
          </a:p>
        </p:txBody>
      </p:sp>
      <p:sp>
        <p:nvSpPr>
          <p:cNvPr id="9" name="text-196"/>
          <p:cNvSpPr txBox="1"/>
          <p:nvPr/>
        </p:nvSpPr>
        <p:spPr>
          <a:xfrm>
            <a:off x="731520" y="5440680"/>
            <a:ext cx="2468880" cy="320040"/>
          </a:xfrm>
          <a:prstGeom prst="rect">
            <a:avLst/>
          </a:prstGeom>
          <a:noFill/>
          <a:ln/>
        </p:spPr>
        <p:txBody>
          <a:bodyPr wrap="square" lIns="0" tIns="0" rIns="0" bIns="0" rtlCol="0" anchor="t"/>
          <a:lstStyle/>
          <a:p>
            <a:pPr indent="0" marL="0">
              <a:buNone/>
            </a:pPr>
            <a:r>
              <a:rPr lang="en-US" sz="1400" dirty="0">
                <a:solidFill>
                  <a:schemeClr val="bg2"/>
                </a:solidFill>
              </a:rPr>
              <a:t>alarms to the cloud</a:t>
            </a:r>
            <a:endParaRPr lang="en-US" sz="1400" dirty="0"/>
          </a:p>
        </p:txBody>
      </p:sp>
      <p:sp>
        <p:nvSpPr>
          <p:cNvPr id="10" name="text-197"/>
          <p:cNvSpPr txBox="1"/>
          <p:nvPr/>
        </p:nvSpPr>
        <p:spPr>
          <a:xfrm>
            <a:off x="3383280" y="4846320"/>
            <a:ext cx="2468880" cy="594360"/>
          </a:xfrm>
          <a:prstGeom prst="rect">
            <a:avLst/>
          </a:prstGeom>
          <a:noFill/>
          <a:ln/>
        </p:spPr>
        <p:txBody>
          <a:bodyPr wrap="square" lIns="0" tIns="0" rIns="0" bIns="0" rtlCol="0" anchor="t"/>
          <a:lstStyle/>
          <a:p>
            <a:pPr indent="0" marL="0">
              <a:buNone/>
            </a:pPr>
            <a:r>
              <a:rPr lang="en-US" sz="3200" b="1" dirty="0">
                <a:solidFill>
                  <a:schemeClr val="accent1"/>
                </a:solidFill>
              </a:rPr>
              <a:t>3 min</a:t>
            </a:r>
            <a:endParaRPr lang="en-US" sz="3200" dirty="0"/>
          </a:p>
        </p:txBody>
      </p:sp>
      <p:sp>
        <p:nvSpPr>
          <p:cNvPr id="11" name="text-198"/>
          <p:cNvSpPr txBox="1"/>
          <p:nvPr/>
        </p:nvSpPr>
        <p:spPr>
          <a:xfrm>
            <a:off x="3383280" y="5440680"/>
            <a:ext cx="2468880" cy="320040"/>
          </a:xfrm>
          <a:prstGeom prst="rect">
            <a:avLst/>
          </a:prstGeom>
          <a:noFill/>
          <a:ln/>
        </p:spPr>
        <p:txBody>
          <a:bodyPr wrap="square" lIns="0" tIns="0" rIns="0" bIns="0" rtlCol="0" anchor="t"/>
          <a:lstStyle/>
          <a:p>
            <a:pPr indent="0" marL="0">
              <a:buNone/>
            </a:pPr>
            <a:r>
              <a:rPr lang="en-US" sz="1400" dirty="0">
                <a:solidFill>
                  <a:schemeClr val="bg2"/>
                </a:solidFill>
              </a:rPr>
              <a:t>worst North Sea gap</a:t>
            </a:r>
            <a:endParaRPr lang="en-US" sz="1400" dirty="0"/>
          </a:p>
        </p:txBody>
      </p:sp>
      <p:sp>
        <p:nvSpPr>
          <p:cNvPr id="12" name="text-199"/>
          <p:cNvSpPr txBox="1"/>
          <p:nvPr/>
        </p:nvSpPr>
        <p:spPr>
          <a:xfrm>
            <a:off x="6035040" y="4846320"/>
            <a:ext cx="2468880" cy="594360"/>
          </a:xfrm>
          <a:prstGeom prst="rect">
            <a:avLst/>
          </a:prstGeom>
          <a:noFill/>
          <a:ln/>
        </p:spPr>
        <p:txBody>
          <a:bodyPr wrap="square" lIns="0" tIns="0" rIns="0" bIns="0" rtlCol="0" anchor="t"/>
          <a:lstStyle/>
          <a:p>
            <a:pPr indent="0" marL="0">
              <a:buNone/>
            </a:pPr>
            <a:r>
              <a:rPr lang="en-US" sz="3200" b="1" dirty="0">
                <a:solidFill>
                  <a:schemeClr val="accent2"/>
                </a:solidFill>
              </a:rPr>
              <a:t>100%</a:t>
            </a:r>
            <a:endParaRPr lang="en-US" sz="3200" dirty="0"/>
          </a:p>
        </p:txBody>
      </p:sp>
      <p:sp>
        <p:nvSpPr>
          <p:cNvPr id="13" name="text-200"/>
          <p:cNvSpPr txBox="1"/>
          <p:nvPr/>
        </p:nvSpPr>
        <p:spPr>
          <a:xfrm>
            <a:off x="6035040" y="5440680"/>
            <a:ext cx="2468880" cy="320040"/>
          </a:xfrm>
          <a:prstGeom prst="rect">
            <a:avLst/>
          </a:prstGeom>
          <a:noFill/>
          <a:ln/>
        </p:spPr>
        <p:txBody>
          <a:bodyPr wrap="square" lIns="0" tIns="0" rIns="0" bIns="0" rtlCol="0" anchor="t"/>
          <a:lstStyle/>
          <a:p>
            <a:pPr indent="0" marL="0">
              <a:buNone/>
            </a:pPr>
            <a:r>
              <a:rPr lang="en-US" sz="1400" dirty="0">
                <a:solidFill>
                  <a:schemeClr val="bg2"/>
                </a:solidFill>
              </a:rPr>
              <a:t>routing compliance</a:t>
            </a:r>
            <a:endParaRPr lang="en-US" sz="1400" dirty="0"/>
          </a:p>
        </p:txBody>
      </p:sp>
    </p:spTree>
  </p:cSld>
  <p:clrMapOvr>
    <a:masterClrMapping/>
  </p:clrMapOvr>
</p:sld>
</file>

<file path=ppt/theme/theme1.xml><?xml version="1.0" encoding="utf-8"?>
<a:theme xmlns:a="http://schemas.openxmlformats.org/drawingml/2006/main" name="Lynq Dark">
  <a:themeElements>
    <a:clrScheme name="Lynq Dark">
      <a:dk1>
        <a:srgbClr val="0E0E0E"/>
      </a:dk1>
      <a:lt1>
        <a:srgbClr val="FFFFFF"/>
      </a:lt1>
      <a:dk2>
        <a:srgbClr val="1C1C21"/>
      </a:dk2>
      <a:lt2>
        <a:srgbClr val="A0A0A8"/>
      </a:lt2>
      <a:accent1>
        <a:srgbClr val="3FD0E0"/>
      </a:accent1>
      <a:accent2>
        <a:srgbClr val="FAA055"/>
      </a:accent2>
      <a:accent3>
        <a:srgbClr val="FF5A5F"/>
      </a:accent3>
      <a:accent4>
        <a:srgbClr val="5BD69A"/>
      </a:accent4>
      <a:accent5>
        <a:srgbClr val="9B8CFF"/>
      </a:accent5>
      <a:accent6>
        <a:srgbClr val="6B6B73"/>
      </a:accent6>
      <a:hlink>
        <a:srgbClr val="3FD0E0"/>
      </a:hlink>
      <a:folHlink>
        <a:srgbClr val="9B8CFF"/>
      </a:folHlink>
    </a:clrScheme>
    <a:fontScheme name="Lynq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Team Lynq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Lynq NTN-Pulse: 10-minute pitch</dc:title>
  <dc:subject>PptxGenJS Presentation</dc:subject>
  <dc:creator>Team Lynq</dc:creator>
  <cp:lastModifiedBy>Team Lynq</cp:lastModifiedBy>
  <cp:revision>1</cp:revision>
  <dcterms:created xsi:type="dcterms:W3CDTF">2026-10-18T01:24:49Z</dcterms:created>
  <dcterms:modified xsi:type="dcterms:W3CDTF">2026-10-18T01:24:49Z</dcterms:modified>
</cp:coreProperties>
</file>